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User story: As a new member of Sana Vey’s garden crew, I want an illustrated offline guide so I can follow the current instructions when the network is down. Artwork generated with ChatGPT.</a:t>
            </a:r>
          </a:p>
          <a:p>
            <a:r>
              <a:t>Source: github.com/anguyen0344/Week7-Greenward, source and Evidence/7A and Evidence/7B reviewed October 9,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editable flow labels map the three story slides to their zero-based array positions. The app uses a linear story. Sound and branching are optional and omitted.</a:t>
            </a:r>
          </a:p>
          <a:p>
            <a:r>
              <a:t>Source: github.com/anguyen0344/Week7-Greenward, source and Evidence/7A and Evidence/7B reviewed October 9,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Left: rendered first slide of Evidence/7A/Greenward-7A-Prototype-Updated.pptx. Right: Evidence/7A/slide-1.png. These are actual repository evidence.</a:t>
            </a:r>
          </a:p>
          <a:p>
            <a:r>
              <a:t>Source: github.com/anguyen0344/Week7-Greenward, source and Evidence/7A and Evidence/7B reviewed October 9,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excerpt follows the existing course integration. ShowDialog returns true only when the user accepts Save. Returning early on Cancel avoids file creation. capturedImage is a BitmapSource.</a:t>
            </a:r>
          </a:p>
          <a:p>
            <a:r>
              <a:t>Source: github.com/anguyen0344/Week7-Greenward, source and Evidence/7A and Evidence/7B reviewed October 9,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Preview screenshot: Evidence/7B/capture-preview.png. CaptureService captures the entire primary display, including anything visible outside the app. PNG saving uses PngBitmapEncoder and BitmapFrame.Create. Image assets 01.jpg, 02.jpg, 03.jpg come from ChatGPT-generated illustrations.</a:t>
            </a:r>
          </a:p>
          <a:p>
            <a:r>
              <a:t>Source: github.com/anguyen0344/Week7-Greenward, source and Evidence/7A and Evidence/7B reviewed October 9,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Results are student-reported in Evidence/7B/README.md. Screenshot: Evidence/7B/cancel-save.png. AI prompt/response evidence: Evidence/7B/AI-suggestion.jpg. Required input: on slide 2, capture, click Save PNG, cancel. Expected: no new file, preview retained, currentSlide unchanged.</a:t>
            </a:r>
          </a:p>
          <a:p>
            <a:r>
              <a:t>Source: github.com/anguyen0344/Week7-Greenward, source and Evidence/7A and Evidence/7B reviewed October 9,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Peer/Discord screenshot currently shows the student’s post. Another person’s feedback and package test need an actual record. Do not report Release build or independent verification as passed until the student supplies results.</a:t>
            </a:r>
          </a:p>
          <a:p>
            <a:r>
              <a:t>Source: github.com/anguyen0344/Week7-Greenward, source and Evidence/7A and Evidence/7B reviewed October 9,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06662447-3E9F-4789-8D2D-33EA9410764C}"/>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id="{1ED7D118-C50D-435A-9057-F1E4EACB9DD8}"/>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140A8884-BD85-4947-8B76-A02DF7BFB6AA}"/>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6CBA47A2-93DD-45FD-9C68-839A427D6D24}"/>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id="{362F75F3-DFF9-44FE-AE0C-01ADBEC46D75}"/>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59FDAB7A-4F40-4C3E-88CF-EFA80509E7E0}"/>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B7A1345C-B190-43EC-A807-AB25D7CA958B}"/>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3" name="Right column">
            <a:extLst>
              <a:ext uri="{FF2B5EF4-FFF2-40B4-BE49-F238E27FC236}">
                <a16:creationId xmlns:a16="http://schemas.microsoft.com/office/drawing/2014/main" id="{758FE4F2-C5EE-48BF-9AFF-6E4509A68EFE}"/>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4A505E1E-E654-48F9-A290-8E325FD154F1}"/>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4AD7C39B-F6AD-4748-AF8F-6C2C42B47371}"/>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3C40"/>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BC9D5D4-F4EC-42AD-8027-D8C70CE5D3BC}"/>
              </a:ext>
            </a:extLst>
          </p:cNvPr>
          <p:cNvSpPr>
            <a:spLocks noGrp="1"/>
          </p:cNvSpPr>
          <p:nvPr/>
        </p:nvSpPr>
        <p:spPr>
          <a:xfrm>
            <a:off x="571500" y="333375"/>
            <a:ext cx="11049000" cy="781050"/>
          </a:xfrm>
          <a:prstGeom prst="rect">
            <a:avLst/>
          </a:prstGeom>
          <a:noFill/>
          <a:ln w="0">
            <a:noFill/>
          </a:ln>
        </p:spPr>
        <p:txBody>
          <a:bodyPr anchor="ctr">
            <a:noAutofit/>
          </a:bodyPr>
          <a:lstStyle>
            <a:defPPr>
              <a:defRPr sz="3300" b="1">
                <a:solidFill>
                  <a:srgbClr val="EED19B"/>
                </a:solidFill>
                <a:latin typeface="Bitstream Charter"/>
                <a:ea typeface="Bitstream Charter"/>
                <a:cs typeface="Bitstream Charter"/>
              </a:defRPr>
            </a:defPPr>
          </a:lstStyle>
          <a:p>
            <a:pPr>
              <a:defRPr sz="3300" b="1">
                <a:solidFill>
                  <a:srgbClr val="EED19B"/>
                </a:solidFill>
                <a:latin typeface="Bitstream Charter"/>
                <a:ea typeface="Bitstream Charter"/>
                <a:cs typeface="Bitstream Charter"/>
              </a:defRPr>
            </a:pPr>
            <a:r>
              <a:rPr sz="3300" b="1">
                <a:solidFill>
                  <a:srgbClr val="EED19B"/>
                </a:solidFill>
                <a:latin typeface="Bitstream Charter"/>
                <a:ea typeface="Bitstream Charter"/>
                <a:cs typeface="Bitstream Charter"/>
              </a:rPr>
              <a:t>Greenward: A New Crew</a:t>
            </a:r>
          </a:p>
        </p:txBody>
      </p:sp>
      <p:sp>
        <p:nvSpPr>
          <p:cNvPr id="2" name="Rectangle 1">
            <a:extLst>
              <a:ext uri="{FF2B5EF4-FFF2-40B4-BE49-F238E27FC236}">
                <a16:creationId xmlns:a16="http://schemas.microsoft.com/office/drawing/2014/main" id="{451F5A50-273D-414C-9B6D-2D01BFE3D394}"/>
              </a:ext>
            </a:extLst>
          </p:cNvPr>
          <p:cNvSpPr>
            <a:spLocks noGrp="1"/>
          </p:cNvSpPr>
          <p:nvPr/>
        </p:nvSpPr>
        <p:spPr>
          <a:xfrm>
            <a:off x="571500" y="6429375"/>
            <a:ext cx="9525000" cy="228600"/>
          </a:xfrm>
          <a:prstGeom prst="rect">
            <a:avLst/>
          </a:prstGeom>
          <a:noFill/>
          <a:ln w="0">
            <a:noFill/>
          </a:ln>
        </p:spPr>
        <p:txBody>
          <a:bodyPr anchor="ctr">
            <a:noAutofit/>
          </a:bodyPr>
          <a:lstStyle>
            <a:defPPr>
              <a:defRPr sz="1350" b="0">
                <a:solidFill>
                  <a:srgbClr val="BDCEC7"/>
                </a:solidFill>
                <a:latin typeface="Bitstream Charter"/>
                <a:ea typeface="Bitstream Charter"/>
                <a:cs typeface="Bitstream Charter"/>
              </a:defRPr>
            </a:defPPr>
          </a:lstStyle>
          <a:p>
            <a:pPr>
              <a:defRPr sz="1350" b="0">
                <a:solidFill>
                  <a:srgbClr val="BDCEC7"/>
                </a:solidFill>
                <a:latin typeface="Bitstream Charter"/>
                <a:ea typeface="Bitstream Charter"/>
                <a:cs typeface="Bitstream Charter"/>
              </a:defRPr>
            </a:pPr>
            <a:r>
              <a:rPr sz="1350" b="0">
                <a:solidFill>
                  <a:srgbClr val="BDCEC7"/>
                </a:solidFill>
                <a:latin typeface="Bitstream Charter"/>
                <a:ea typeface="Bitstream Charter"/>
                <a:cs typeface="Bitstream Charter"/>
              </a:rPr>
              <a:t>Greenward / CS110 Week 7</a:t>
            </a:r>
          </a:p>
        </p:txBody>
      </p:sp>
      <p:sp>
        <p:nvSpPr>
          <p:cNvPr id="3" name="Rectangle 2">
            <a:extLst>
              <a:ext uri="{FF2B5EF4-FFF2-40B4-BE49-F238E27FC236}">
                <a16:creationId xmlns:a16="http://schemas.microsoft.com/office/drawing/2014/main" id="{9B11FB08-7A3B-402F-B671-78751F6E407E}"/>
              </a:ext>
            </a:extLst>
          </p:cNvPr>
          <p:cNvSpPr>
            <a:spLocks noGrp="1"/>
          </p:cNvSpPr>
          <p:nvPr/>
        </p:nvSpPr>
        <p:spPr>
          <a:xfrm>
            <a:off x="571500" y="1714500"/>
            <a:ext cx="5334000" cy="1428750"/>
          </a:xfrm>
          <a:prstGeom prst="rect">
            <a:avLst/>
          </a:prstGeom>
          <a:noFill/>
          <a:ln w="0">
            <a:noFill/>
          </a:ln>
        </p:spPr>
        <p:txBody>
          <a:bodyPr anchor="ctr">
            <a:noAutofit/>
          </a:bodyPr>
          <a:lstStyle>
            <a:defPPr>
              <a:defRPr sz="2700" b="0">
                <a:solidFill>
                  <a:srgbClr val="EDF3E9"/>
                </a:solidFill>
                <a:latin typeface="Bitstream Charter"/>
                <a:ea typeface="Bitstream Charter"/>
                <a:cs typeface="Bitstream Charter"/>
              </a:defRPr>
            </a:defPPr>
          </a:lstStyle>
          <a:p>
            <a:pPr>
              <a:defRPr sz="2700" b="0">
                <a:solidFill>
                  <a:srgbClr val="EDF3E9"/>
                </a:solidFill>
                <a:latin typeface="Bitstream Charter"/>
                <a:ea typeface="Bitstream Charter"/>
                <a:cs typeface="Bitstream Charter"/>
              </a:defRPr>
            </a:pPr>
            <a:r>
              <a:rPr sz="2700" b="0">
                <a:solidFill>
                  <a:srgbClr val="EDF3E9"/>
                </a:solidFill>
                <a:latin typeface="Bitstream Charter"/>
                <a:ea typeface="Bitstream Charter"/>
                <a:cs typeface="Bitstream Charter"/>
              </a:rPr>
              <a:t>An illustrated offline guide</a:t>
            </a:r>
          </a:p>
          <a:p>
            <a:pPr>
              <a:defRPr sz="2700" b="0">
                <a:solidFill>
                  <a:srgbClr val="EDF3E9"/>
                </a:solidFill>
                <a:latin typeface="Bitstream Charter"/>
                <a:ea typeface="Bitstream Charter"/>
                <a:cs typeface="Bitstream Charter"/>
              </a:defRPr>
            </a:pPr>
            <a:r>
              <a:rPr sz="2700" b="0">
                <a:solidFill>
                  <a:srgbClr val="EDF3E9"/>
                </a:solidFill>
                <a:latin typeface="Bitstream Charter"/>
                <a:ea typeface="Bitstream Charter"/>
                <a:cs typeface="Bitstream Charter"/>
              </a:rPr>
              <a:t>for a new garden crew member</a:t>
            </a:r>
          </a:p>
        </p:txBody>
      </p:sp>
      <p:sp>
        <p:nvSpPr>
          <p:cNvPr id="4" name="Rectangle 3">
            <a:extLst>
              <a:ext uri="{FF2B5EF4-FFF2-40B4-BE49-F238E27FC236}">
                <a16:creationId xmlns:a16="http://schemas.microsoft.com/office/drawing/2014/main" id="{376B851A-86A8-4BF6-91FA-CFEFFBAAD5C3}"/>
              </a:ext>
            </a:extLst>
          </p:cNvPr>
          <p:cNvSpPr>
            <a:spLocks noGrp="1"/>
          </p:cNvSpPr>
          <p:nvPr/>
        </p:nvSpPr>
        <p:spPr>
          <a:xfrm>
            <a:off x="571500" y="3714750"/>
            <a:ext cx="5143500" cy="952500"/>
          </a:xfrm>
          <a:prstGeom prst="rect">
            <a:avLst/>
          </a:prstGeom>
          <a:noFill/>
          <a:ln w="0">
            <a:noFill/>
          </a:ln>
        </p:spPr>
        <p:txBody>
          <a:bodyPr anchor="ctr">
            <a:noAutofit/>
          </a:bodyPr>
          <a:lstStyle>
            <a:defPPr>
              <a:defRPr sz="1875" b="0">
                <a:solidFill>
                  <a:srgbClr val="EDF3E9"/>
                </a:solidFill>
                <a:latin typeface="Bitstream Charter"/>
                <a:ea typeface="Bitstream Charter"/>
                <a:cs typeface="Bitstream Charter"/>
              </a:defRPr>
            </a:defPPr>
          </a:lstStyle>
          <a:p>
            <a:pPr>
              <a:defRPr sz="1875" b="0">
                <a:solidFill>
                  <a:srgbClr val="EDF3E9"/>
                </a:solidFill>
                <a:latin typeface="Bitstream Charter"/>
                <a:ea typeface="Bitstream Charter"/>
                <a:cs typeface="Bitstream Charter"/>
              </a:defRPr>
            </a:pPr>
            <a:r>
              <a:rPr sz="1875" b="0">
                <a:solidFill>
                  <a:srgbClr val="EDF3E9"/>
                </a:solidFill>
                <a:latin typeface="Bitstream Charter"/>
                <a:ea typeface="Bitstream Charter"/>
                <a:cs typeface="Bitstream Charter"/>
              </a:rPr>
              <a:t>Nguyen Thanh An</a:t>
            </a:r>
          </a:p>
          <a:p>
            <a:pPr>
              <a:defRPr sz="1875" b="0">
                <a:solidFill>
                  <a:srgbClr val="EDF3E9"/>
                </a:solidFill>
                <a:latin typeface="Bitstream Charter"/>
                <a:ea typeface="Bitstream Charter"/>
                <a:cs typeface="Bitstream Charter"/>
              </a:defRPr>
            </a:pPr>
            <a:r>
              <a:rPr sz="1875" b="0">
                <a:solidFill>
                  <a:srgbClr val="EDF3E9"/>
                </a:solidFill>
                <a:latin typeface="Bitstream Charter"/>
                <a:ea typeface="Bitstream Charter"/>
                <a:cs typeface="Bitstream Charter"/>
              </a:rPr>
              <a:t>WPF slideshow and screen capture tutorial</a:t>
            </a:r>
          </a:p>
        </p:txBody>
      </p:sp>
      <p:pic>
        <p:nvPicPr>
          <p:cNvPr id="5" name="Picture 4">
            <a:extLst>
              <a:ext uri="{FF2B5EF4-FFF2-40B4-BE49-F238E27FC236}">
                <a16:creationId xmlns:a16="http://schemas.microsoft.com/office/drawing/2014/main" id="{DABD1913-DD5B-4745-B3D9-87FA9350E82F}"/>
              </a:ext>
            </a:extLst>
          </p:cNvPr>
          <p:cNvPicPr>
            <a:picLocks noChangeAspect="1"/>
          </p:cNvPicPr>
          <p:nvPr/>
        </p:nvPicPr>
        <p:blipFill>
          <a:blip r:embed="rId3"/>
          <a:stretch/>
        </p:blipFill>
        <p:spPr>
          <a:xfrm>
            <a:off x="6238875" y="2009863"/>
            <a:ext cx="5381625" cy="3028773"/>
          </a:xfrm>
          <a:prstGeom prst="rect">
            <a:avLst/>
          </a:prstGeom>
        </p:spPr>
      </p:pic>
    </p:spTree>
    <p:extLst>
      <p:ext uri="{BB962C8B-B14F-4D97-AF65-F5344CB8AC3E}">
        <p14:creationId xmlns:p14="http://schemas.microsoft.com/office/powerpoint/2010/main" val="2007552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03C40"/>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3E8BE39-644F-4FEE-B30E-551BB5B7DEC9}"/>
              </a:ext>
            </a:extLst>
          </p:cNvPr>
          <p:cNvSpPr>
            <a:spLocks noGrp="1"/>
          </p:cNvSpPr>
          <p:nvPr/>
        </p:nvSpPr>
        <p:spPr>
          <a:xfrm>
            <a:off x="571500" y="333375"/>
            <a:ext cx="11049000" cy="781050"/>
          </a:xfrm>
          <a:prstGeom prst="rect">
            <a:avLst/>
          </a:prstGeom>
          <a:noFill/>
          <a:ln w="0">
            <a:noFill/>
          </a:ln>
        </p:spPr>
        <p:txBody>
          <a:bodyPr anchor="ctr">
            <a:noAutofit/>
          </a:bodyPr>
          <a:lstStyle>
            <a:defPPr>
              <a:defRPr sz="3300" b="1">
                <a:solidFill>
                  <a:srgbClr val="EED19B"/>
                </a:solidFill>
                <a:latin typeface="Bitstream Charter"/>
                <a:ea typeface="Bitstream Charter"/>
                <a:cs typeface="Bitstream Charter"/>
              </a:defRPr>
            </a:defPPr>
          </a:lstStyle>
          <a:p>
            <a:pPr>
              <a:defRPr sz="3300" b="1">
                <a:solidFill>
                  <a:srgbClr val="EED19B"/>
                </a:solidFill>
                <a:latin typeface="Bitstream Charter"/>
                <a:ea typeface="Bitstream Charter"/>
                <a:cs typeface="Bitstream Charter"/>
              </a:defRPr>
            </a:pPr>
            <a:r>
              <a:rPr sz="3300" b="1">
                <a:solidFill>
                  <a:srgbClr val="EED19B"/>
                </a:solidFill>
                <a:latin typeface="Bitstream Charter"/>
                <a:ea typeface="Bitstream Charter"/>
                <a:cs typeface="Bitstream Charter"/>
              </a:rPr>
              <a:t>Story flow and navigation</a:t>
            </a:r>
          </a:p>
        </p:txBody>
      </p:sp>
      <p:sp>
        <p:nvSpPr>
          <p:cNvPr id="2" name="Rectangle 1">
            <a:extLst>
              <a:ext uri="{FF2B5EF4-FFF2-40B4-BE49-F238E27FC236}">
                <a16:creationId xmlns:a16="http://schemas.microsoft.com/office/drawing/2014/main" id="{95B605CA-E46D-4EB8-AAC7-EB43EF0F1323}"/>
              </a:ext>
            </a:extLst>
          </p:cNvPr>
          <p:cNvSpPr>
            <a:spLocks noGrp="1"/>
          </p:cNvSpPr>
          <p:nvPr/>
        </p:nvSpPr>
        <p:spPr>
          <a:xfrm>
            <a:off x="571500" y="6429375"/>
            <a:ext cx="9525000" cy="228600"/>
          </a:xfrm>
          <a:prstGeom prst="rect">
            <a:avLst/>
          </a:prstGeom>
          <a:noFill/>
          <a:ln w="0">
            <a:noFill/>
          </a:ln>
        </p:spPr>
        <p:txBody>
          <a:bodyPr anchor="ctr">
            <a:noAutofit/>
          </a:bodyPr>
          <a:lstStyle>
            <a:defPPr>
              <a:defRPr sz="1350" b="0">
                <a:solidFill>
                  <a:srgbClr val="BDCEC7"/>
                </a:solidFill>
                <a:latin typeface="Bitstream Charter"/>
                <a:ea typeface="Bitstream Charter"/>
                <a:cs typeface="Bitstream Charter"/>
              </a:defRPr>
            </a:defPPr>
          </a:lstStyle>
          <a:p>
            <a:pPr>
              <a:defRPr sz="1350" b="0">
                <a:solidFill>
                  <a:srgbClr val="BDCEC7"/>
                </a:solidFill>
                <a:latin typeface="Bitstream Charter"/>
                <a:ea typeface="Bitstream Charter"/>
                <a:cs typeface="Bitstream Charter"/>
              </a:defRPr>
            </a:pPr>
            <a:r>
              <a:rPr sz="1350" b="0">
                <a:solidFill>
                  <a:srgbClr val="BDCEC7"/>
                </a:solidFill>
                <a:latin typeface="Bitstream Charter"/>
                <a:ea typeface="Bitstream Charter"/>
                <a:cs typeface="Bitstream Charter"/>
              </a:rPr>
              <a:t>Greenward / CS110 Week 7</a:t>
            </a:r>
          </a:p>
        </p:txBody>
      </p:sp>
      <p:sp>
        <p:nvSpPr>
          <p:cNvPr id="3" name="Rectangle 2">
            <a:extLst>
              <a:ext uri="{FF2B5EF4-FFF2-40B4-BE49-F238E27FC236}">
                <a16:creationId xmlns:a16="http://schemas.microsoft.com/office/drawing/2014/main" id="{ED0F971A-1A59-43C5-B0EC-D603E65542BA}"/>
              </a:ext>
            </a:extLst>
          </p:cNvPr>
          <p:cNvSpPr>
            <a:spLocks noGrp="1"/>
          </p:cNvSpPr>
          <p:nvPr/>
        </p:nvSpPr>
        <p:spPr>
          <a:xfrm>
            <a:off x="666750" y="1571625"/>
            <a:ext cx="3048000" cy="1000125"/>
          </a:xfrm>
          <a:prstGeom prst="rect">
            <a:avLst/>
          </a:prstGeom>
          <a:solidFill>
            <a:srgbClr val="EED19B"/>
          </a:solidFill>
          <a:ln w="0">
            <a:noFill/>
          </a:ln>
        </p:spPr>
        <p:txBody>
          <a:bodyPr anchor="ctr">
            <a:noAutofit/>
          </a:bodyPr>
          <a:lstStyle>
            <a:defPPr>
              <a:defRPr sz="2250" b="1">
                <a:solidFill>
                  <a:srgbClr val="103C40"/>
                </a:solidFill>
                <a:latin typeface="Bitstream Charter"/>
                <a:ea typeface="Bitstream Charter"/>
                <a:cs typeface="Bitstream Charter"/>
              </a:defRPr>
            </a:defPPr>
          </a:lstStyle>
          <a:p>
            <a:pPr>
              <a:defRPr sz="2250" b="1">
                <a:solidFill>
                  <a:srgbClr val="103C40"/>
                </a:solidFill>
                <a:latin typeface="Bitstream Charter"/>
                <a:ea typeface="Bitstream Charter"/>
                <a:cs typeface="Bitstream Charter"/>
              </a:defRPr>
            </a:pPr>
            <a:r>
              <a:rPr sz="2250" b="1">
                <a:solidFill>
                  <a:srgbClr val="103C40"/>
                </a:solidFill>
                <a:latin typeface="Bitstream Charter"/>
                <a:ea typeface="Bitstream Charter"/>
                <a:cs typeface="Bitstream Charter"/>
              </a:rPr>
              <a:t>Arrival</a:t>
            </a:r>
          </a:p>
          <a:p>
            <a:pPr>
              <a:defRPr sz="2250" b="1">
                <a:solidFill>
                  <a:srgbClr val="103C40"/>
                </a:solidFill>
                <a:latin typeface="Bitstream Charter"/>
                <a:ea typeface="Bitstream Charter"/>
                <a:cs typeface="Bitstream Charter"/>
              </a:defRPr>
            </a:pPr>
            <a:r>
              <a:rPr sz="2250" b="1">
                <a:solidFill>
                  <a:srgbClr val="103C40"/>
                </a:solidFill>
                <a:latin typeface="Bitstream Charter"/>
                <a:ea typeface="Bitstream Charter"/>
                <a:cs typeface="Bitstream Charter"/>
              </a:rPr>
              <a:t>Index 0</a:t>
            </a:r>
          </a:p>
        </p:txBody>
      </p:sp>
      <p:sp>
        <p:nvSpPr>
          <p:cNvPr id="4" name="Rectangle 3">
            <a:extLst>
              <a:ext uri="{FF2B5EF4-FFF2-40B4-BE49-F238E27FC236}">
                <a16:creationId xmlns:a16="http://schemas.microsoft.com/office/drawing/2014/main" id="{1DF06AF3-44AC-4D8D-B539-3250B44642A1}"/>
              </a:ext>
            </a:extLst>
          </p:cNvPr>
          <p:cNvSpPr>
            <a:spLocks noGrp="1"/>
          </p:cNvSpPr>
          <p:nvPr/>
        </p:nvSpPr>
        <p:spPr>
          <a:xfrm>
            <a:off x="4572000" y="1571625"/>
            <a:ext cx="3048000" cy="1000125"/>
          </a:xfrm>
          <a:prstGeom prst="rect">
            <a:avLst/>
          </a:prstGeom>
          <a:solidFill>
            <a:srgbClr val="EED19B"/>
          </a:solidFill>
          <a:ln w="0">
            <a:noFill/>
          </a:ln>
        </p:spPr>
        <p:txBody>
          <a:bodyPr anchor="ctr">
            <a:noAutofit/>
          </a:bodyPr>
          <a:lstStyle>
            <a:defPPr>
              <a:defRPr sz="2250" b="1">
                <a:solidFill>
                  <a:srgbClr val="103C40"/>
                </a:solidFill>
                <a:latin typeface="Bitstream Charter"/>
                <a:ea typeface="Bitstream Charter"/>
                <a:cs typeface="Bitstream Charter"/>
              </a:defRPr>
            </a:defPPr>
          </a:lstStyle>
          <a:p>
            <a:pPr>
              <a:defRPr sz="2250" b="1">
                <a:solidFill>
                  <a:srgbClr val="103C40"/>
                </a:solidFill>
                <a:latin typeface="Bitstream Charter"/>
                <a:ea typeface="Bitstream Charter"/>
                <a:cs typeface="Bitstream Charter"/>
              </a:defRPr>
            </a:pPr>
            <a:r>
              <a:rPr sz="2250" b="1">
                <a:solidFill>
                  <a:srgbClr val="103C40"/>
                </a:solidFill>
                <a:latin typeface="Bitstream Charter"/>
                <a:ea typeface="Bitstream Charter"/>
                <a:cs typeface="Bitstream Charter"/>
              </a:rPr>
              <a:t>Outdated card</a:t>
            </a:r>
          </a:p>
          <a:p>
            <a:pPr>
              <a:defRPr sz="2250" b="1">
                <a:solidFill>
                  <a:srgbClr val="103C40"/>
                </a:solidFill>
                <a:latin typeface="Bitstream Charter"/>
                <a:ea typeface="Bitstream Charter"/>
                <a:cs typeface="Bitstream Charter"/>
              </a:defRPr>
            </a:pPr>
            <a:r>
              <a:rPr sz="2250" b="1">
                <a:solidFill>
                  <a:srgbClr val="103C40"/>
                </a:solidFill>
                <a:latin typeface="Bitstream Charter"/>
                <a:ea typeface="Bitstream Charter"/>
                <a:cs typeface="Bitstream Charter"/>
              </a:rPr>
              <a:t>Index 1</a:t>
            </a:r>
          </a:p>
        </p:txBody>
      </p:sp>
      <p:sp>
        <p:nvSpPr>
          <p:cNvPr id="5" name="Rectangle 4">
            <a:extLst>
              <a:ext uri="{FF2B5EF4-FFF2-40B4-BE49-F238E27FC236}">
                <a16:creationId xmlns:a16="http://schemas.microsoft.com/office/drawing/2014/main" id="{E64EE805-FC3B-45A2-AE34-BD1930DB493C}"/>
              </a:ext>
            </a:extLst>
          </p:cNvPr>
          <p:cNvSpPr>
            <a:spLocks noGrp="1"/>
          </p:cNvSpPr>
          <p:nvPr/>
        </p:nvSpPr>
        <p:spPr>
          <a:xfrm>
            <a:off x="8477250" y="1571625"/>
            <a:ext cx="3048000" cy="1000125"/>
          </a:xfrm>
          <a:prstGeom prst="rect">
            <a:avLst/>
          </a:prstGeom>
          <a:solidFill>
            <a:srgbClr val="EED19B"/>
          </a:solidFill>
          <a:ln w="0">
            <a:noFill/>
          </a:ln>
        </p:spPr>
        <p:txBody>
          <a:bodyPr anchor="ctr">
            <a:noAutofit/>
          </a:bodyPr>
          <a:lstStyle>
            <a:defPPr>
              <a:defRPr sz="2250" b="1">
                <a:solidFill>
                  <a:srgbClr val="103C40"/>
                </a:solidFill>
                <a:latin typeface="Bitstream Charter"/>
                <a:ea typeface="Bitstream Charter"/>
                <a:cs typeface="Bitstream Charter"/>
              </a:defRPr>
            </a:defPPr>
          </a:lstStyle>
          <a:p>
            <a:pPr>
              <a:defRPr sz="2250" b="1">
                <a:solidFill>
                  <a:srgbClr val="103C40"/>
                </a:solidFill>
                <a:latin typeface="Bitstream Charter"/>
                <a:ea typeface="Bitstream Charter"/>
                <a:cs typeface="Bitstream Charter"/>
              </a:defRPr>
            </a:pPr>
            <a:r>
              <a:rPr sz="2250" b="1">
                <a:solidFill>
                  <a:srgbClr val="103C40"/>
                </a:solidFill>
                <a:latin typeface="Bitstream Charter"/>
                <a:ea typeface="Bitstream Charter"/>
                <a:cs typeface="Bitstream Charter"/>
              </a:rPr>
              <a:t>Current instructions</a:t>
            </a:r>
          </a:p>
          <a:p>
            <a:pPr>
              <a:defRPr sz="2250" b="1">
                <a:solidFill>
                  <a:srgbClr val="103C40"/>
                </a:solidFill>
                <a:latin typeface="Bitstream Charter"/>
                <a:ea typeface="Bitstream Charter"/>
                <a:cs typeface="Bitstream Charter"/>
              </a:defRPr>
            </a:pPr>
            <a:r>
              <a:rPr sz="2250" b="1">
                <a:solidFill>
                  <a:srgbClr val="103C40"/>
                </a:solidFill>
                <a:latin typeface="Bitstream Charter"/>
                <a:ea typeface="Bitstream Charter"/>
                <a:cs typeface="Bitstream Charter"/>
              </a:rPr>
              <a:t>Index 2</a:t>
            </a:r>
          </a:p>
        </p:txBody>
      </p:sp>
      <p:sp>
        <p:nvSpPr>
          <p:cNvPr id="6" name="Rectangle 5">
            <a:extLst>
              <a:ext uri="{FF2B5EF4-FFF2-40B4-BE49-F238E27FC236}">
                <a16:creationId xmlns:a16="http://schemas.microsoft.com/office/drawing/2014/main" id="{46BB19DA-2813-4BCF-B7EC-246D4CB90ECE}"/>
              </a:ext>
            </a:extLst>
          </p:cNvPr>
          <p:cNvSpPr>
            <a:spLocks noGrp="1"/>
          </p:cNvSpPr>
          <p:nvPr/>
        </p:nvSpPr>
        <p:spPr>
          <a:xfrm>
            <a:off x="3743325" y="1857375"/>
            <a:ext cx="857250" cy="381000"/>
          </a:xfrm>
          <a:prstGeom prst="rect">
            <a:avLst/>
          </a:prstGeom>
          <a:noFill/>
          <a:ln w="0">
            <a:noFill/>
          </a:ln>
        </p:spPr>
        <p:txBody>
          <a:bodyPr anchor="ctr">
            <a:noAutofit/>
          </a:bodyPr>
          <a:lstStyle>
            <a:defPPr>
              <a:defRPr sz="1650" b="0">
                <a:solidFill>
                  <a:srgbClr val="EDF3E9"/>
                </a:solidFill>
                <a:latin typeface="Bitstream Charter"/>
                <a:ea typeface="Bitstream Charter"/>
                <a:cs typeface="Bitstream Charter"/>
              </a:defRPr>
            </a:defPPr>
          </a:lstStyle>
          <a:p>
            <a:pPr>
              <a:defRPr sz="1650" b="0">
                <a:solidFill>
                  <a:srgbClr val="EDF3E9"/>
                </a:solidFill>
                <a:latin typeface="Bitstream Charter"/>
                <a:ea typeface="Bitstream Charter"/>
                <a:cs typeface="Bitstream Charter"/>
              </a:defRPr>
            </a:pPr>
            <a:r>
              <a:rPr sz="1650" b="0">
                <a:solidFill>
                  <a:srgbClr val="EDF3E9"/>
                </a:solidFill>
                <a:latin typeface="Bitstream Charter"/>
                <a:ea typeface="Bitstream Charter"/>
                <a:cs typeface="Bitstream Charter"/>
              </a:rPr>
              <a:t>Next →</a:t>
            </a:r>
          </a:p>
        </p:txBody>
      </p:sp>
      <p:sp>
        <p:nvSpPr>
          <p:cNvPr id="7" name="Rectangle 6">
            <a:extLst>
              <a:ext uri="{FF2B5EF4-FFF2-40B4-BE49-F238E27FC236}">
                <a16:creationId xmlns:a16="http://schemas.microsoft.com/office/drawing/2014/main" id="{057CA623-246E-4CE6-8EBE-1B621E09BA74}"/>
              </a:ext>
            </a:extLst>
          </p:cNvPr>
          <p:cNvSpPr>
            <a:spLocks noGrp="1"/>
          </p:cNvSpPr>
          <p:nvPr/>
        </p:nvSpPr>
        <p:spPr>
          <a:xfrm>
            <a:off x="7648575" y="1857375"/>
            <a:ext cx="857250" cy="381000"/>
          </a:xfrm>
          <a:prstGeom prst="rect">
            <a:avLst/>
          </a:prstGeom>
          <a:noFill/>
          <a:ln w="0">
            <a:noFill/>
          </a:ln>
        </p:spPr>
        <p:txBody>
          <a:bodyPr anchor="ctr">
            <a:noAutofit/>
          </a:bodyPr>
          <a:lstStyle>
            <a:defPPr>
              <a:defRPr sz="1650" b="0">
                <a:solidFill>
                  <a:srgbClr val="EDF3E9"/>
                </a:solidFill>
                <a:latin typeface="Bitstream Charter"/>
                <a:ea typeface="Bitstream Charter"/>
                <a:cs typeface="Bitstream Charter"/>
              </a:defRPr>
            </a:defPPr>
          </a:lstStyle>
          <a:p>
            <a:pPr>
              <a:defRPr sz="1650" b="0">
                <a:solidFill>
                  <a:srgbClr val="EDF3E9"/>
                </a:solidFill>
                <a:latin typeface="Bitstream Charter"/>
                <a:ea typeface="Bitstream Charter"/>
                <a:cs typeface="Bitstream Charter"/>
              </a:defRPr>
            </a:pPr>
            <a:r>
              <a:rPr sz="1650" b="0">
                <a:solidFill>
                  <a:srgbClr val="EDF3E9"/>
                </a:solidFill>
                <a:latin typeface="Bitstream Charter"/>
                <a:ea typeface="Bitstream Charter"/>
                <a:cs typeface="Bitstream Charter"/>
              </a:rPr>
              <a:t>Next →</a:t>
            </a:r>
          </a:p>
        </p:txBody>
      </p:sp>
      <p:sp>
        <p:nvSpPr>
          <p:cNvPr id="8" name="Rectangle 7">
            <a:extLst>
              <a:ext uri="{FF2B5EF4-FFF2-40B4-BE49-F238E27FC236}">
                <a16:creationId xmlns:a16="http://schemas.microsoft.com/office/drawing/2014/main" id="{F3216D2E-2FE1-49C2-874F-71FAE139D396}"/>
              </a:ext>
            </a:extLst>
          </p:cNvPr>
          <p:cNvSpPr>
            <a:spLocks noGrp="1"/>
          </p:cNvSpPr>
          <p:nvPr/>
        </p:nvSpPr>
        <p:spPr>
          <a:xfrm>
            <a:off x="666750" y="3286125"/>
            <a:ext cx="10763250" cy="571500"/>
          </a:xfrm>
          <a:prstGeom prst="rect">
            <a:avLst/>
          </a:prstGeom>
          <a:noFill/>
          <a:ln w="0">
            <a:noFill/>
          </a:ln>
        </p:spPr>
        <p:txBody>
          <a:bodyPr anchor="ctr">
            <a:noAutofit/>
          </a:bodyPr>
          <a:lstStyle>
            <a:defPPr>
              <a:defRPr sz="2175" b="0">
                <a:solidFill>
                  <a:srgbClr val="EDF3E9"/>
                </a:solidFill>
                <a:latin typeface="Bitstream Charter"/>
                <a:ea typeface="Bitstream Charter"/>
                <a:cs typeface="Bitstream Charter"/>
              </a:defRPr>
            </a:defPPr>
          </a:lstStyle>
          <a:p>
            <a:pPr>
              <a:defRPr sz="2175" b="0">
                <a:solidFill>
                  <a:srgbClr val="EDF3E9"/>
                </a:solidFill>
                <a:latin typeface="Bitstream Charter"/>
                <a:ea typeface="Bitstream Charter"/>
                <a:cs typeface="Bitstream Charter"/>
              </a:defRPr>
            </a:pPr>
            <a:r>
              <a:rPr sz="2175" b="0">
                <a:solidFill>
                  <a:srgbClr val="EDF3E9"/>
                </a:solidFill>
                <a:latin typeface="Bitstream Charter"/>
                <a:ea typeface="Bitstream Charter"/>
                <a:cs typeface="Bitstream Charter"/>
              </a:rPr>
              <a:t>Back returns to the previous index. Restart calls ShowSlide(0).</a:t>
            </a:r>
          </a:p>
        </p:txBody>
      </p:sp>
      <p:sp>
        <p:nvSpPr>
          <p:cNvPr id="9" name="Rectangle 8">
            <a:extLst>
              <a:ext uri="{FF2B5EF4-FFF2-40B4-BE49-F238E27FC236}">
                <a16:creationId xmlns:a16="http://schemas.microsoft.com/office/drawing/2014/main" id="{E285DA82-1162-4566-989D-B3B2A89E9DE2}"/>
              </a:ext>
            </a:extLst>
          </p:cNvPr>
          <p:cNvSpPr>
            <a:spLocks noGrp="1"/>
          </p:cNvSpPr>
          <p:nvPr/>
        </p:nvSpPr>
        <p:spPr>
          <a:xfrm>
            <a:off x="666750" y="4191000"/>
            <a:ext cx="10763250" cy="1428750"/>
          </a:xfrm>
          <a:prstGeom prst="rect">
            <a:avLst/>
          </a:prstGeom>
          <a:noFill/>
          <a:ln w="0">
            <a:noFill/>
          </a:ln>
        </p:spPr>
        <p:txBody>
          <a:bodyPr anchor="ctr">
            <a:noAutofit/>
          </a:bodyPr>
          <a:lstStyle>
            <a:defPPr>
              <a:defRPr sz="2025" b="0">
                <a:solidFill>
                  <a:srgbClr val="EDF3E9"/>
                </a:solidFill>
                <a:latin typeface="Bitstream Charter"/>
                <a:ea typeface="Bitstream Charter"/>
                <a:cs typeface="Bitstream Charter"/>
              </a:defRPr>
            </a:defPPr>
          </a:lstStyle>
          <a:p>
            <a:pPr>
              <a:defRPr sz="2025" b="0">
                <a:solidFill>
                  <a:srgbClr val="EDF3E9"/>
                </a:solidFill>
                <a:latin typeface="Bitstream Charter"/>
                <a:ea typeface="Bitstream Charter"/>
                <a:cs typeface="Bitstream Charter"/>
              </a:defRPr>
            </a:pPr>
            <a:r>
              <a:rPr sz="2025" b="0">
                <a:solidFill>
                  <a:srgbClr val="EDF3E9"/>
                </a:solidFill>
                <a:latin typeface="Bitstream Charter"/>
                <a:ea typeface="Bitstream Charter"/>
                <a:cs typeface="Bitstream Charter"/>
              </a:rPr>
              <a:t>ShowSlide checks the index before changing the story.</a:t>
            </a:r>
          </a:p>
          <a:p>
            <a:pPr>
              <a:defRPr sz="2025" b="0">
                <a:solidFill>
                  <a:srgbClr val="EDF3E9"/>
                </a:solidFill>
                <a:latin typeface="Bitstream Charter"/>
                <a:ea typeface="Bitstream Charter"/>
                <a:cs typeface="Bitstream Charter"/>
              </a:defRPr>
            </a:pPr>
            <a:r>
              <a:rPr sz="2025" b="0">
                <a:solidFill>
                  <a:srgbClr val="EDF3E9"/>
                </a:solidFill>
                <a:latin typeface="Bitstream Charter"/>
                <a:ea typeface="Bitstream Charter"/>
                <a:cs typeface="Bitstream Charter"/>
              </a:rPr>
              <a:t>Back is disabled at index 0. Next is disabled at index 2.</a:t>
            </a:r>
          </a:p>
          <a:p>
            <a:pPr>
              <a:defRPr sz="2025" b="0">
                <a:solidFill>
                  <a:srgbClr val="EDF3E9"/>
                </a:solidFill>
                <a:latin typeface="Bitstream Charter"/>
                <a:ea typeface="Bitstream Charter"/>
                <a:cs typeface="Bitstream Charter"/>
              </a:defRPr>
            </a:pPr>
            <a:r>
              <a:rPr sz="2025" b="0">
                <a:solidFill>
                  <a:srgbClr val="EDF3E9"/>
                </a:solidFill>
                <a:latin typeface="Bitstream Charter"/>
                <a:ea typeface="Bitstream Charter"/>
                <a:cs typeface="Bitstream Charter"/>
              </a:rPr>
              <a:t>Text, image and description come from the same Slide record.</a:t>
            </a:r>
          </a:p>
        </p:txBody>
      </p:sp>
    </p:spTree>
    <p:extLst>
      <p:ext uri="{BB962C8B-B14F-4D97-AF65-F5344CB8AC3E}">
        <p14:creationId xmlns:p14="http://schemas.microsoft.com/office/powerpoint/2010/main" val="15091414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03C40"/>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CB6A8AC-351B-4C57-9A58-A736A6E9CEB5}"/>
              </a:ext>
            </a:extLst>
          </p:cNvPr>
          <p:cNvSpPr>
            <a:spLocks noGrp="1"/>
          </p:cNvSpPr>
          <p:nvPr/>
        </p:nvSpPr>
        <p:spPr>
          <a:xfrm>
            <a:off x="571500" y="333375"/>
            <a:ext cx="11049000" cy="781050"/>
          </a:xfrm>
          <a:prstGeom prst="rect">
            <a:avLst/>
          </a:prstGeom>
          <a:noFill/>
          <a:ln w="0">
            <a:noFill/>
          </a:ln>
        </p:spPr>
        <p:txBody>
          <a:bodyPr anchor="ctr">
            <a:noAutofit/>
          </a:bodyPr>
          <a:lstStyle>
            <a:defPPr>
              <a:defRPr sz="3300" b="1">
                <a:solidFill>
                  <a:srgbClr val="EED19B"/>
                </a:solidFill>
                <a:latin typeface="Bitstream Charter"/>
                <a:ea typeface="Bitstream Charter"/>
                <a:cs typeface="Bitstream Charter"/>
              </a:defRPr>
            </a:defPPr>
          </a:lstStyle>
          <a:p>
            <a:pPr>
              <a:defRPr sz="3300" b="1">
                <a:solidFill>
                  <a:srgbClr val="EED19B"/>
                </a:solidFill>
                <a:latin typeface="Bitstream Charter"/>
                <a:ea typeface="Bitstream Charter"/>
                <a:cs typeface="Bitstream Charter"/>
              </a:defRPr>
            </a:pPr>
            <a:r>
              <a:rPr sz="3300" b="1">
                <a:solidFill>
                  <a:srgbClr val="EED19B"/>
                </a:solidFill>
                <a:latin typeface="Bitstream Charter"/>
                <a:ea typeface="Bitstream Charter"/>
                <a:cs typeface="Bitstream Charter"/>
              </a:rPr>
              <a:t>Prototype and working app</a:t>
            </a:r>
          </a:p>
        </p:txBody>
      </p:sp>
      <p:sp>
        <p:nvSpPr>
          <p:cNvPr id="2" name="Rectangle 1">
            <a:extLst>
              <a:ext uri="{FF2B5EF4-FFF2-40B4-BE49-F238E27FC236}">
                <a16:creationId xmlns:a16="http://schemas.microsoft.com/office/drawing/2014/main" id="{691E53E8-0C63-4E3B-B0E9-D0AECA110D5C}"/>
              </a:ext>
            </a:extLst>
          </p:cNvPr>
          <p:cNvSpPr>
            <a:spLocks noGrp="1"/>
          </p:cNvSpPr>
          <p:nvPr/>
        </p:nvSpPr>
        <p:spPr>
          <a:xfrm>
            <a:off x="571500" y="6429375"/>
            <a:ext cx="9525000" cy="228600"/>
          </a:xfrm>
          <a:prstGeom prst="rect">
            <a:avLst/>
          </a:prstGeom>
          <a:noFill/>
          <a:ln w="0">
            <a:noFill/>
          </a:ln>
        </p:spPr>
        <p:txBody>
          <a:bodyPr anchor="ctr">
            <a:noAutofit/>
          </a:bodyPr>
          <a:lstStyle>
            <a:defPPr>
              <a:defRPr sz="1350" b="0">
                <a:solidFill>
                  <a:srgbClr val="BDCEC7"/>
                </a:solidFill>
                <a:latin typeface="Bitstream Charter"/>
                <a:ea typeface="Bitstream Charter"/>
                <a:cs typeface="Bitstream Charter"/>
              </a:defRPr>
            </a:defPPr>
          </a:lstStyle>
          <a:p>
            <a:pPr>
              <a:defRPr sz="1350" b="0">
                <a:solidFill>
                  <a:srgbClr val="BDCEC7"/>
                </a:solidFill>
                <a:latin typeface="Bitstream Charter"/>
                <a:ea typeface="Bitstream Charter"/>
                <a:cs typeface="Bitstream Charter"/>
              </a:defRPr>
            </a:pPr>
            <a:r>
              <a:rPr sz="1350" b="0">
                <a:solidFill>
                  <a:srgbClr val="BDCEC7"/>
                </a:solidFill>
                <a:latin typeface="Bitstream Charter"/>
                <a:ea typeface="Bitstream Charter"/>
                <a:cs typeface="Bitstream Charter"/>
              </a:rPr>
              <a:t>Greenward / CS110 Week 7</a:t>
            </a:r>
          </a:p>
        </p:txBody>
      </p:sp>
      <p:sp>
        <p:nvSpPr>
          <p:cNvPr id="3" name="Rectangle 2">
            <a:extLst>
              <a:ext uri="{FF2B5EF4-FFF2-40B4-BE49-F238E27FC236}">
                <a16:creationId xmlns:a16="http://schemas.microsoft.com/office/drawing/2014/main" id="{ABBB155E-4F2B-4930-8BB0-CA99CE71CBD3}"/>
              </a:ext>
            </a:extLst>
          </p:cNvPr>
          <p:cNvSpPr>
            <a:spLocks noGrp="1"/>
          </p:cNvSpPr>
          <p:nvPr/>
        </p:nvSpPr>
        <p:spPr>
          <a:xfrm>
            <a:off x="571500" y="1190625"/>
            <a:ext cx="5238750" cy="428625"/>
          </a:xfrm>
          <a:prstGeom prst="rect">
            <a:avLst/>
          </a:prstGeom>
          <a:noFill/>
          <a:ln w="0">
            <a:noFill/>
          </a:ln>
        </p:spPr>
        <p:txBody>
          <a:bodyPr anchor="ctr">
            <a:noAutofit/>
          </a:bodyPr>
          <a:lstStyle>
            <a:defPPr>
              <a:defRPr sz="2100" b="1">
                <a:solidFill>
                  <a:srgbClr val="EDF3E9"/>
                </a:solidFill>
                <a:latin typeface="Bitstream Charter"/>
                <a:ea typeface="Bitstream Charter"/>
                <a:cs typeface="Bitstream Charter"/>
              </a:defRPr>
            </a:defPPr>
          </a:lstStyle>
          <a:p>
            <a:pPr>
              <a:defRPr sz="2100" b="1">
                <a:solidFill>
                  <a:srgbClr val="EDF3E9"/>
                </a:solidFill>
                <a:latin typeface="Bitstream Charter"/>
                <a:ea typeface="Bitstream Charter"/>
                <a:cs typeface="Bitstream Charter"/>
              </a:defRPr>
            </a:pPr>
            <a:r>
              <a:rPr sz="2100" b="1">
                <a:solidFill>
                  <a:srgbClr val="EDF3E9"/>
                </a:solidFill>
                <a:latin typeface="Bitstream Charter"/>
                <a:ea typeface="Bitstream Charter"/>
                <a:cs typeface="Bitstream Charter"/>
              </a:rPr>
              <a:t>7A visual prototype</a:t>
            </a:r>
          </a:p>
        </p:txBody>
      </p:sp>
      <p:sp>
        <p:nvSpPr>
          <p:cNvPr id="4" name="Rectangle 3">
            <a:extLst>
              <a:ext uri="{FF2B5EF4-FFF2-40B4-BE49-F238E27FC236}">
                <a16:creationId xmlns:a16="http://schemas.microsoft.com/office/drawing/2014/main" id="{EABB8F6D-ED5D-4FB1-8F5E-BE54BE34E005}"/>
              </a:ext>
            </a:extLst>
          </p:cNvPr>
          <p:cNvSpPr>
            <a:spLocks noGrp="1"/>
          </p:cNvSpPr>
          <p:nvPr/>
        </p:nvSpPr>
        <p:spPr>
          <a:xfrm>
            <a:off x="6381750" y="1190625"/>
            <a:ext cx="5238750" cy="428625"/>
          </a:xfrm>
          <a:prstGeom prst="rect">
            <a:avLst/>
          </a:prstGeom>
          <a:noFill/>
          <a:ln w="0">
            <a:noFill/>
          </a:ln>
        </p:spPr>
        <p:txBody>
          <a:bodyPr anchor="ctr">
            <a:noAutofit/>
          </a:bodyPr>
          <a:lstStyle>
            <a:defPPr>
              <a:defRPr sz="2100" b="1">
                <a:solidFill>
                  <a:srgbClr val="EDF3E9"/>
                </a:solidFill>
                <a:latin typeface="Bitstream Charter"/>
                <a:ea typeface="Bitstream Charter"/>
                <a:cs typeface="Bitstream Charter"/>
              </a:defRPr>
            </a:defPPr>
          </a:lstStyle>
          <a:p>
            <a:pPr>
              <a:defRPr sz="2100" b="1">
                <a:solidFill>
                  <a:srgbClr val="EDF3E9"/>
                </a:solidFill>
                <a:latin typeface="Bitstream Charter"/>
                <a:ea typeface="Bitstream Charter"/>
                <a:cs typeface="Bitstream Charter"/>
              </a:defRPr>
            </a:pPr>
            <a:r>
              <a:rPr sz="2100" b="1">
                <a:solidFill>
                  <a:srgbClr val="EDF3E9"/>
                </a:solidFill>
                <a:latin typeface="Bitstream Charter"/>
                <a:ea typeface="Bitstream Charter"/>
                <a:cs typeface="Bitstream Charter"/>
              </a:rPr>
              <a:t>7A running app</a:t>
            </a:r>
          </a:p>
        </p:txBody>
      </p:sp>
      <p:pic>
        <p:nvPicPr>
          <p:cNvPr id="5" name="Picture 4">
            <a:extLst>
              <a:ext uri="{FF2B5EF4-FFF2-40B4-BE49-F238E27FC236}">
                <a16:creationId xmlns:a16="http://schemas.microsoft.com/office/drawing/2014/main" id="{E0703336-336A-408F-A3A6-F76CE2C26B2C}"/>
              </a:ext>
            </a:extLst>
          </p:cNvPr>
          <p:cNvPicPr>
            <a:picLocks noChangeAspect="1"/>
          </p:cNvPicPr>
          <p:nvPr/>
        </p:nvPicPr>
        <p:blipFill>
          <a:blip r:embed="rId3"/>
          <a:stretch/>
        </p:blipFill>
        <p:spPr>
          <a:xfrm>
            <a:off x="571500" y="1860352"/>
            <a:ext cx="5238750" cy="2946797"/>
          </a:xfrm>
          <a:prstGeom prst="rect">
            <a:avLst/>
          </a:prstGeom>
        </p:spPr>
      </p:pic>
      <p:pic>
        <p:nvPicPr>
          <p:cNvPr id="6" name="Picture 5">
            <a:extLst>
              <a:ext uri="{FF2B5EF4-FFF2-40B4-BE49-F238E27FC236}">
                <a16:creationId xmlns:a16="http://schemas.microsoft.com/office/drawing/2014/main" id="{8F19BEAF-7E60-451B-BA6C-5B4BA6618FFE}"/>
              </a:ext>
            </a:extLst>
          </p:cNvPr>
          <p:cNvPicPr>
            <a:picLocks noChangeAspect="1"/>
          </p:cNvPicPr>
          <p:nvPr/>
        </p:nvPicPr>
        <p:blipFill>
          <a:blip r:embed="rId4"/>
          <a:stretch/>
        </p:blipFill>
        <p:spPr>
          <a:xfrm>
            <a:off x="6666265" y="1714500"/>
            <a:ext cx="4669720" cy="3238500"/>
          </a:xfrm>
          <a:prstGeom prst="rect">
            <a:avLst/>
          </a:prstGeom>
        </p:spPr>
      </p:pic>
      <p:sp>
        <p:nvSpPr>
          <p:cNvPr id="7" name="Rectangle 6">
            <a:extLst>
              <a:ext uri="{FF2B5EF4-FFF2-40B4-BE49-F238E27FC236}">
                <a16:creationId xmlns:a16="http://schemas.microsoft.com/office/drawing/2014/main" id="{D776AB66-E7EE-4A1C-A15E-4A05841E763B}"/>
              </a:ext>
            </a:extLst>
          </p:cNvPr>
          <p:cNvSpPr>
            <a:spLocks noGrp="1"/>
          </p:cNvSpPr>
          <p:nvPr/>
        </p:nvSpPr>
        <p:spPr>
          <a:xfrm>
            <a:off x="571500" y="5286375"/>
            <a:ext cx="11049000" cy="714375"/>
          </a:xfrm>
          <a:prstGeom prst="rect">
            <a:avLst/>
          </a:prstGeom>
          <a:noFill/>
          <a:ln w="0">
            <a:noFill/>
          </a:ln>
        </p:spPr>
        <p:txBody>
          <a:bodyPr anchor="ctr">
            <a:noAutofit/>
          </a:bodyPr>
          <a:lstStyle>
            <a:defPPr>
              <a:defRPr sz="2100" b="0">
                <a:solidFill>
                  <a:srgbClr val="EDF3E9"/>
                </a:solidFill>
                <a:latin typeface="Bitstream Charter"/>
                <a:ea typeface="Bitstream Charter"/>
                <a:cs typeface="Bitstream Charter"/>
              </a:defRPr>
            </a:defPPr>
          </a:lstStyle>
          <a:p>
            <a:pPr>
              <a:defRPr sz="2100" b="0">
                <a:solidFill>
                  <a:srgbClr val="EDF3E9"/>
                </a:solidFill>
                <a:latin typeface="Bitstream Charter"/>
                <a:ea typeface="Bitstream Charter"/>
                <a:cs typeface="Bitstream Charter"/>
              </a:defRPr>
            </a:pPr>
            <a:r>
              <a:rPr sz="2100" b="0">
                <a:solidFill>
                  <a:srgbClr val="EDF3E9"/>
                </a:solidFill>
                <a:latin typeface="Bitstream Charter"/>
                <a:ea typeface="Bitstream Charter"/>
                <a:cs typeface="Bitstream Charter"/>
              </a:rPr>
              <a:t>The app follows the planned story, images and navigation.</a:t>
            </a:r>
          </a:p>
          <a:p>
            <a:pPr>
              <a:defRPr sz="2100" b="0">
                <a:solidFill>
                  <a:srgbClr val="EDF3E9"/>
                </a:solidFill>
                <a:latin typeface="Bitstream Charter"/>
                <a:ea typeface="Bitstream Charter"/>
                <a:cs typeface="Bitstream Charter"/>
              </a:defRPr>
            </a:pPr>
            <a:r>
              <a:rPr sz="2100" b="0">
                <a:solidFill>
                  <a:srgbClr val="EDF3E9"/>
                </a:solidFill>
                <a:latin typeface="Bitstream Charter"/>
                <a:ea typeface="Bitstream Charter"/>
                <a:cs typeface="Bitstream Charter"/>
              </a:rPr>
              <a:t>7B adds a capture preview and Save PNG / Clear controls.</a:t>
            </a:r>
          </a:p>
        </p:txBody>
      </p:sp>
    </p:spTree>
    <p:extLst>
      <p:ext uri="{BB962C8B-B14F-4D97-AF65-F5344CB8AC3E}">
        <p14:creationId xmlns:p14="http://schemas.microsoft.com/office/powerpoint/2010/main" val="12145249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03C40"/>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68A5E14-A17B-434E-A9AB-84862F219DD7}"/>
              </a:ext>
            </a:extLst>
          </p:cNvPr>
          <p:cNvSpPr>
            <a:spLocks noGrp="1"/>
          </p:cNvSpPr>
          <p:nvPr/>
        </p:nvSpPr>
        <p:spPr>
          <a:xfrm>
            <a:off x="571500" y="333375"/>
            <a:ext cx="11049000" cy="781050"/>
          </a:xfrm>
          <a:prstGeom prst="rect">
            <a:avLst/>
          </a:prstGeom>
          <a:noFill/>
          <a:ln w="0">
            <a:noFill/>
          </a:ln>
        </p:spPr>
        <p:txBody>
          <a:bodyPr anchor="ctr">
            <a:noAutofit/>
          </a:bodyPr>
          <a:lstStyle>
            <a:defPPr>
              <a:defRPr sz="3300" b="1">
                <a:solidFill>
                  <a:srgbClr val="EED19B"/>
                </a:solidFill>
                <a:latin typeface="Bitstream Charter"/>
                <a:ea typeface="Bitstream Charter"/>
                <a:cs typeface="Bitstream Charter"/>
              </a:defRPr>
            </a:defPPr>
          </a:lstStyle>
          <a:p>
            <a:pPr>
              <a:defRPr sz="3300" b="1">
                <a:solidFill>
                  <a:srgbClr val="EED19B"/>
                </a:solidFill>
                <a:latin typeface="Bitstream Charter"/>
                <a:ea typeface="Bitstream Charter"/>
                <a:cs typeface="Bitstream Charter"/>
              </a:defRPr>
            </a:pPr>
            <a:r>
              <a:rPr sz="3300" b="1">
                <a:solidFill>
                  <a:srgbClr val="EED19B"/>
                </a:solidFill>
                <a:latin typeface="Bitstream Charter"/>
                <a:ea typeface="Bitstream Charter"/>
                <a:cs typeface="Bitstream Charter"/>
              </a:rPr>
              <a:t>One method: cancelling Save</a:t>
            </a:r>
          </a:p>
        </p:txBody>
      </p:sp>
      <p:sp>
        <p:nvSpPr>
          <p:cNvPr id="2" name="Rectangle 1">
            <a:extLst>
              <a:ext uri="{FF2B5EF4-FFF2-40B4-BE49-F238E27FC236}">
                <a16:creationId xmlns:a16="http://schemas.microsoft.com/office/drawing/2014/main" id="{6E787BCF-F0AC-4BEB-8DB1-A6647C25B545}"/>
              </a:ext>
            </a:extLst>
          </p:cNvPr>
          <p:cNvSpPr>
            <a:spLocks noGrp="1"/>
          </p:cNvSpPr>
          <p:nvPr/>
        </p:nvSpPr>
        <p:spPr>
          <a:xfrm>
            <a:off x="571500" y="6429375"/>
            <a:ext cx="9525000" cy="228600"/>
          </a:xfrm>
          <a:prstGeom prst="rect">
            <a:avLst/>
          </a:prstGeom>
          <a:noFill/>
          <a:ln w="0">
            <a:noFill/>
          </a:ln>
        </p:spPr>
        <p:txBody>
          <a:bodyPr anchor="ctr">
            <a:noAutofit/>
          </a:bodyPr>
          <a:lstStyle>
            <a:defPPr>
              <a:defRPr sz="1350" b="0">
                <a:solidFill>
                  <a:srgbClr val="BDCEC7"/>
                </a:solidFill>
                <a:latin typeface="Bitstream Charter"/>
                <a:ea typeface="Bitstream Charter"/>
                <a:cs typeface="Bitstream Charter"/>
              </a:defRPr>
            </a:defPPr>
          </a:lstStyle>
          <a:p>
            <a:pPr>
              <a:defRPr sz="1350" b="0">
                <a:solidFill>
                  <a:srgbClr val="BDCEC7"/>
                </a:solidFill>
                <a:latin typeface="Bitstream Charter"/>
                <a:ea typeface="Bitstream Charter"/>
                <a:cs typeface="Bitstream Charter"/>
              </a:defRPr>
            </a:pPr>
            <a:r>
              <a:rPr sz="1350" b="0">
                <a:solidFill>
                  <a:srgbClr val="BDCEC7"/>
                </a:solidFill>
                <a:latin typeface="Bitstream Charter"/>
                <a:ea typeface="Bitstream Charter"/>
                <a:cs typeface="Bitstream Charter"/>
              </a:rPr>
              <a:t>Greenward / CS110 Week 7</a:t>
            </a:r>
          </a:p>
        </p:txBody>
      </p:sp>
      <p:sp>
        <p:nvSpPr>
          <p:cNvPr id="3" name="Rectangle 2">
            <a:extLst>
              <a:ext uri="{FF2B5EF4-FFF2-40B4-BE49-F238E27FC236}">
                <a16:creationId xmlns:a16="http://schemas.microsoft.com/office/drawing/2014/main" id="{A778B636-6F74-4A57-AB2A-C218898A0553}"/>
              </a:ext>
            </a:extLst>
          </p:cNvPr>
          <p:cNvSpPr>
            <a:spLocks noGrp="1"/>
          </p:cNvSpPr>
          <p:nvPr/>
        </p:nvSpPr>
        <p:spPr>
          <a:xfrm>
            <a:off x="571500" y="1190625"/>
            <a:ext cx="10953750" cy="428625"/>
          </a:xfrm>
          <a:prstGeom prst="rect">
            <a:avLst/>
          </a:prstGeom>
          <a:noFill/>
          <a:ln w="0">
            <a:noFill/>
          </a:ln>
        </p:spPr>
        <p:txBody>
          <a:bodyPr anchor="ctr">
            <a:noAutofit/>
          </a:bodyPr>
          <a:lstStyle>
            <a:defPPr>
              <a:defRPr sz="1950" b="1">
                <a:solidFill>
                  <a:srgbClr val="EDF3E9"/>
                </a:solidFill>
                <a:latin typeface="Bitstream Charter"/>
                <a:ea typeface="Bitstream Charter"/>
                <a:cs typeface="Bitstream Charter"/>
              </a:defRPr>
            </a:defPPr>
          </a:lstStyle>
          <a:p>
            <a:pPr>
              <a:defRPr sz="1950" b="1">
                <a:solidFill>
                  <a:srgbClr val="EDF3E9"/>
                </a:solidFill>
                <a:latin typeface="Bitstream Charter"/>
                <a:ea typeface="Bitstream Charter"/>
                <a:cs typeface="Bitstream Charter"/>
              </a:defRPr>
            </a:pPr>
            <a:r>
              <a:rPr sz="1950" b="1">
                <a:solidFill>
                  <a:srgbClr val="EDF3E9"/>
                </a:solidFill>
                <a:latin typeface="Bitstream Charter"/>
                <a:ea typeface="Bitstream Charter"/>
                <a:cs typeface="Bitstream Charter"/>
              </a:rPr>
              <a:t>MainWindow.xaml.cs / SaveCaptureButton_Click</a:t>
            </a:r>
          </a:p>
        </p:txBody>
      </p:sp>
      <p:sp>
        <p:nvSpPr>
          <p:cNvPr id="4" name="Rectangle 3">
            <a:extLst>
              <a:ext uri="{FF2B5EF4-FFF2-40B4-BE49-F238E27FC236}">
                <a16:creationId xmlns:a16="http://schemas.microsoft.com/office/drawing/2014/main" id="{C346461D-E824-4A03-AC8D-36152E94BACC}"/>
              </a:ext>
            </a:extLst>
          </p:cNvPr>
          <p:cNvSpPr>
            <a:spLocks noGrp="1"/>
          </p:cNvSpPr>
          <p:nvPr/>
        </p:nvSpPr>
        <p:spPr>
          <a:xfrm>
            <a:off x="571500" y="1905000"/>
            <a:ext cx="11049000" cy="2714625"/>
          </a:xfrm>
          <a:prstGeom prst="rect">
            <a:avLst/>
          </a:prstGeom>
          <a:noFill/>
          <a:ln w="0">
            <a:noFill/>
          </a:ln>
        </p:spPr>
        <p:txBody>
          <a:bodyPr anchor="ctr">
            <a:noAutofit/>
          </a:bodyPr>
          <a:lstStyle>
            <a:defPPr>
              <a:defRPr sz="2025" b="0">
                <a:solidFill>
                  <a:srgbClr val="EDF3E9"/>
                </a:solidFill>
                <a:latin typeface="Bitstream Charter"/>
                <a:ea typeface="Bitstream Charter"/>
                <a:cs typeface="Bitstream Charter"/>
              </a:defRPr>
            </a:defPPr>
          </a:lstStyle>
          <a:p>
            <a:pPr>
              <a:defRPr sz="2025" b="0">
                <a:solidFill>
                  <a:srgbClr val="EDF3E9"/>
                </a:solidFill>
                <a:latin typeface="Bitstream Charter"/>
                <a:ea typeface="Bitstream Charter"/>
                <a:cs typeface="Bitstream Charter"/>
              </a:defRPr>
            </a:pPr>
            <a:r>
              <a:rPr sz="2025" b="0">
                <a:solidFill>
                  <a:srgbClr val="EDF3E9"/>
                </a:solidFill>
                <a:latin typeface="Bitstream Charter"/>
                <a:ea typeface="Bitstream Charter"/>
                <a:cs typeface="Bitstream Charter"/>
              </a:rPr>
              <a:t>if (capturedImage is null) return;</a:t>
            </a:r>
          </a:p>
          <a:p>
            <a:endParaRPr sz="2025" b="0">
              <a:solidFill>
                <a:srgbClr val="EDF3E9"/>
              </a:solidFill>
              <a:latin typeface="Bitstream Charter"/>
              <a:ea typeface="Bitstream Charter"/>
              <a:cs typeface="Bitstream Charter"/>
            </a:endParaRPr>
          </a:p>
          <a:p>
            <a:pPr>
              <a:defRPr sz="2025" b="0">
                <a:solidFill>
                  <a:srgbClr val="EDF3E9"/>
                </a:solidFill>
                <a:latin typeface="Bitstream Charter"/>
                <a:ea typeface="Bitstream Charter"/>
                <a:cs typeface="Bitstream Charter"/>
              </a:defRPr>
            </a:pPr>
            <a:r>
              <a:rPr sz="2025" b="0">
                <a:solidFill>
                  <a:srgbClr val="EDF3E9"/>
                </a:solidFill>
                <a:latin typeface="Bitstream Charter"/>
                <a:ea typeface="Bitstream Charter"/>
                <a:cs typeface="Bitstream Charter"/>
              </a:rPr>
              <a:t>if (dialog.ShowDialog(this) != true)</a:t>
            </a:r>
          </a:p>
          <a:p>
            <a:pPr>
              <a:defRPr sz="2025" b="0">
                <a:solidFill>
                  <a:srgbClr val="EDF3E9"/>
                </a:solidFill>
                <a:latin typeface="Bitstream Charter"/>
                <a:ea typeface="Bitstream Charter"/>
                <a:cs typeface="Bitstream Charter"/>
              </a:defRPr>
            </a:pPr>
            <a:r>
              <a:rPr sz="2025" b="0">
                <a:solidFill>
                  <a:srgbClr val="EDF3E9"/>
                </a:solidFill>
                <a:latin typeface="Bitstream Charter"/>
                <a:ea typeface="Bitstream Charter"/>
                <a:cs typeface="Bitstream Charter"/>
              </a:rPr>
              <a:t>{</a:t>
            </a:r>
          </a:p>
          <a:p>
            <a:pPr>
              <a:defRPr sz="2025" b="0">
                <a:solidFill>
                  <a:srgbClr val="EDF3E9"/>
                </a:solidFill>
                <a:latin typeface="Bitstream Charter"/>
                <a:ea typeface="Bitstream Charter"/>
                <a:cs typeface="Bitstream Charter"/>
              </a:defRPr>
            </a:pPr>
            <a:r>
              <a:rPr sz="2025" b="0">
                <a:solidFill>
                  <a:srgbClr val="EDF3E9"/>
                </a:solidFill>
                <a:latin typeface="Bitstream Charter"/>
                <a:ea typeface="Bitstream Charter"/>
                <a:cs typeface="Bitstream Charter"/>
              </a:rPr>
              <a:t>    StatusText.Text = "Save cancelled. Preview kept.";</a:t>
            </a:r>
          </a:p>
          <a:p>
            <a:pPr>
              <a:defRPr sz="2025" b="0">
                <a:solidFill>
                  <a:srgbClr val="EDF3E9"/>
                </a:solidFill>
                <a:latin typeface="Bitstream Charter"/>
                <a:ea typeface="Bitstream Charter"/>
                <a:cs typeface="Bitstream Charter"/>
              </a:defRPr>
            </a:pPr>
            <a:r>
              <a:rPr sz="2025" b="0">
                <a:solidFill>
                  <a:srgbClr val="EDF3E9"/>
                </a:solidFill>
                <a:latin typeface="Bitstream Charter"/>
                <a:ea typeface="Bitstream Charter"/>
                <a:cs typeface="Bitstream Charter"/>
              </a:rPr>
              <a:t>    return;</a:t>
            </a:r>
          </a:p>
          <a:p>
            <a:pPr>
              <a:defRPr sz="2025" b="0">
                <a:solidFill>
                  <a:srgbClr val="EDF3E9"/>
                </a:solidFill>
                <a:latin typeface="Bitstream Charter"/>
                <a:ea typeface="Bitstream Charter"/>
                <a:cs typeface="Bitstream Charter"/>
              </a:defRPr>
            </a:pPr>
            <a:r>
              <a:rPr sz="2025" b="0">
                <a:solidFill>
                  <a:srgbClr val="EDF3E9"/>
                </a:solidFill>
                <a:latin typeface="Bitstream Charter"/>
                <a:ea typeface="Bitstream Charter"/>
                <a:cs typeface="Bitstream Charter"/>
              </a:rPr>
              <a:t>}</a:t>
            </a:r>
          </a:p>
        </p:txBody>
      </p:sp>
      <p:sp>
        <p:nvSpPr>
          <p:cNvPr id="5" name="Rectangle 4">
            <a:extLst>
              <a:ext uri="{FF2B5EF4-FFF2-40B4-BE49-F238E27FC236}">
                <a16:creationId xmlns:a16="http://schemas.microsoft.com/office/drawing/2014/main" id="{3544BBFB-CC2D-45DF-B365-3FB5F7EDBBD1}"/>
              </a:ext>
            </a:extLst>
          </p:cNvPr>
          <p:cNvSpPr>
            <a:spLocks noGrp="1"/>
          </p:cNvSpPr>
          <p:nvPr/>
        </p:nvSpPr>
        <p:spPr>
          <a:xfrm>
            <a:off x="571500" y="5095875"/>
            <a:ext cx="11049000" cy="904875"/>
          </a:xfrm>
          <a:prstGeom prst="rect">
            <a:avLst/>
          </a:prstGeom>
          <a:noFill/>
          <a:ln w="0">
            <a:noFill/>
          </a:ln>
        </p:spPr>
        <p:txBody>
          <a:bodyPr anchor="ctr">
            <a:noAutofit/>
          </a:bodyPr>
          <a:lstStyle>
            <a:defPPr>
              <a:defRPr sz="2175" b="0">
                <a:solidFill>
                  <a:srgbClr val="EDF3E9"/>
                </a:solidFill>
                <a:latin typeface="Bitstream Charter"/>
                <a:ea typeface="Bitstream Charter"/>
                <a:cs typeface="Bitstream Charter"/>
              </a:defRPr>
            </a:defPPr>
          </a:lstStyle>
          <a:p>
            <a:pPr>
              <a:defRPr sz="2175" b="0">
                <a:solidFill>
                  <a:srgbClr val="EDF3E9"/>
                </a:solidFill>
                <a:latin typeface="Bitstream Charter"/>
                <a:ea typeface="Bitstream Charter"/>
                <a:cs typeface="Bitstream Charter"/>
              </a:defRPr>
            </a:pPr>
            <a:r>
              <a:rPr sz="2175" b="0">
                <a:solidFill>
                  <a:srgbClr val="EDF3E9"/>
                </a:solidFill>
                <a:latin typeface="Bitstream Charter"/>
                <a:ea typeface="Bitstream Charter"/>
                <a:cs typeface="Bitstream Charter"/>
              </a:rPr>
              <a:t>Cancel returns before the encoder writes a file.</a:t>
            </a:r>
          </a:p>
          <a:p>
            <a:pPr>
              <a:defRPr sz="2175" b="0">
                <a:solidFill>
                  <a:srgbClr val="EDF3E9"/>
                </a:solidFill>
                <a:latin typeface="Bitstream Charter"/>
                <a:ea typeface="Bitstream Charter"/>
                <a:cs typeface="Bitstream Charter"/>
              </a:defRPr>
            </a:pPr>
            <a:r>
              <a:rPr sz="2175" b="0">
                <a:solidFill>
                  <a:srgbClr val="EDF3E9"/>
                </a:solidFill>
                <a:latin typeface="Bitstream Charter"/>
                <a:ea typeface="Bitstream Charter"/>
                <a:cs typeface="Bitstream Charter"/>
              </a:rPr>
              <a:t>The method leaves capturedImage, preview and currentSlide intact.</a:t>
            </a:r>
          </a:p>
        </p:txBody>
      </p:sp>
    </p:spTree>
    <p:extLst>
      <p:ext uri="{BB962C8B-B14F-4D97-AF65-F5344CB8AC3E}">
        <p14:creationId xmlns:p14="http://schemas.microsoft.com/office/powerpoint/2010/main" val="18518584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03C40"/>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A93420A-D9D1-43EB-BFB4-05F3FF07ABB9}"/>
              </a:ext>
            </a:extLst>
          </p:cNvPr>
          <p:cNvSpPr>
            <a:spLocks noGrp="1"/>
          </p:cNvSpPr>
          <p:nvPr/>
        </p:nvSpPr>
        <p:spPr>
          <a:xfrm>
            <a:off x="571500" y="333375"/>
            <a:ext cx="11049000" cy="781050"/>
          </a:xfrm>
          <a:prstGeom prst="rect">
            <a:avLst/>
          </a:prstGeom>
          <a:noFill/>
          <a:ln w="0">
            <a:noFill/>
          </a:ln>
        </p:spPr>
        <p:txBody>
          <a:bodyPr anchor="ctr">
            <a:noAutofit/>
          </a:bodyPr>
          <a:lstStyle>
            <a:defPPr>
              <a:defRPr sz="3300" b="1">
                <a:solidFill>
                  <a:srgbClr val="EED19B"/>
                </a:solidFill>
                <a:latin typeface="Bitstream Charter"/>
                <a:ea typeface="Bitstream Charter"/>
                <a:cs typeface="Bitstream Charter"/>
              </a:defRPr>
            </a:defPPr>
          </a:lstStyle>
          <a:p>
            <a:pPr>
              <a:defRPr sz="3300" b="1">
                <a:solidFill>
                  <a:srgbClr val="EED19B"/>
                </a:solidFill>
                <a:latin typeface="Bitstream Charter"/>
                <a:ea typeface="Bitstream Charter"/>
                <a:cs typeface="Bitstream Charter"/>
              </a:defRPr>
            </a:pPr>
            <a:r>
              <a:rPr sz="3300" b="1">
                <a:solidFill>
                  <a:srgbClr val="EED19B"/>
                </a:solidFill>
                <a:latin typeface="Bitstream Charter"/>
                <a:ea typeface="Bitstream Charter"/>
                <a:cs typeface="Bitstream Charter"/>
              </a:rPr>
              <a:t>Screen capture and PNG evidence</a:t>
            </a:r>
          </a:p>
        </p:txBody>
      </p:sp>
      <p:sp>
        <p:nvSpPr>
          <p:cNvPr id="2" name="Rectangle 1">
            <a:extLst>
              <a:ext uri="{FF2B5EF4-FFF2-40B4-BE49-F238E27FC236}">
                <a16:creationId xmlns:a16="http://schemas.microsoft.com/office/drawing/2014/main" id="{FD8411B3-857A-4977-9AF0-87BE2D22F406}"/>
              </a:ext>
            </a:extLst>
          </p:cNvPr>
          <p:cNvSpPr>
            <a:spLocks noGrp="1"/>
          </p:cNvSpPr>
          <p:nvPr/>
        </p:nvSpPr>
        <p:spPr>
          <a:xfrm>
            <a:off x="571500" y="6429375"/>
            <a:ext cx="9525000" cy="228600"/>
          </a:xfrm>
          <a:prstGeom prst="rect">
            <a:avLst/>
          </a:prstGeom>
          <a:noFill/>
          <a:ln w="0">
            <a:noFill/>
          </a:ln>
        </p:spPr>
        <p:txBody>
          <a:bodyPr anchor="ctr">
            <a:noAutofit/>
          </a:bodyPr>
          <a:lstStyle>
            <a:defPPr>
              <a:defRPr sz="1350" b="0">
                <a:solidFill>
                  <a:srgbClr val="BDCEC7"/>
                </a:solidFill>
                <a:latin typeface="Bitstream Charter"/>
                <a:ea typeface="Bitstream Charter"/>
                <a:cs typeface="Bitstream Charter"/>
              </a:defRPr>
            </a:defPPr>
          </a:lstStyle>
          <a:p>
            <a:pPr>
              <a:defRPr sz="1350" b="0">
                <a:solidFill>
                  <a:srgbClr val="BDCEC7"/>
                </a:solidFill>
                <a:latin typeface="Bitstream Charter"/>
                <a:ea typeface="Bitstream Charter"/>
                <a:cs typeface="Bitstream Charter"/>
              </a:defRPr>
            </a:pPr>
            <a:r>
              <a:rPr sz="1350" b="0">
                <a:solidFill>
                  <a:srgbClr val="BDCEC7"/>
                </a:solidFill>
                <a:latin typeface="Bitstream Charter"/>
                <a:ea typeface="Bitstream Charter"/>
                <a:cs typeface="Bitstream Charter"/>
              </a:rPr>
              <a:t>Greenward / CS110 Week 7</a:t>
            </a:r>
          </a:p>
        </p:txBody>
      </p:sp>
      <p:pic>
        <p:nvPicPr>
          <p:cNvPr id="3" name="Picture 2">
            <a:extLst>
              <a:ext uri="{FF2B5EF4-FFF2-40B4-BE49-F238E27FC236}">
                <a16:creationId xmlns:a16="http://schemas.microsoft.com/office/drawing/2014/main" id="{A559EEFA-223A-4A9A-81E3-D70CAABA90F3}"/>
              </a:ext>
            </a:extLst>
          </p:cNvPr>
          <p:cNvPicPr>
            <a:picLocks noChangeAspect="1"/>
          </p:cNvPicPr>
          <p:nvPr/>
        </p:nvPicPr>
        <p:blipFill>
          <a:blip r:embed="rId3"/>
          <a:stretch/>
        </p:blipFill>
        <p:spPr>
          <a:xfrm>
            <a:off x="571500" y="1799104"/>
            <a:ext cx="6191250" cy="3450292"/>
          </a:xfrm>
          <a:prstGeom prst="rect">
            <a:avLst/>
          </a:prstGeom>
        </p:spPr>
      </p:pic>
      <p:sp>
        <p:nvSpPr>
          <p:cNvPr id="4" name="Rectangle 3">
            <a:extLst>
              <a:ext uri="{FF2B5EF4-FFF2-40B4-BE49-F238E27FC236}">
                <a16:creationId xmlns:a16="http://schemas.microsoft.com/office/drawing/2014/main" id="{89D0AC7A-98D0-437D-83C5-7828E63A482C}"/>
              </a:ext>
            </a:extLst>
          </p:cNvPr>
          <p:cNvSpPr>
            <a:spLocks noGrp="1"/>
          </p:cNvSpPr>
          <p:nvPr/>
        </p:nvSpPr>
        <p:spPr>
          <a:xfrm>
            <a:off x="7239000" y="1476375"/>
            <a:ext cx="4381500" cy="3524250"/>
          </a:xfrm>
          <a:prstGeom prst="rect">
            <a:avLst/>
          </a:prstGeom>
          <a:noFill/>
          <a:ln w="0">
            <a:noFill/>
          </a:ln>
        </p:spPr>
        <p:txBody>
          <a:bodyPr anchor="ctr">
            <a:noAutofit/>
          </a:bodyPr>
          <a:lstStyle>
            <a:defPPr>
              <a:defRPr sz="2025" b="0">
                <a:solidFill>
                  <a:srgbClr val="EDF3E9"/>
                </a:solidFill>
                <a:latin typeface="Bitstream Charter"/>
                <a:ea typeface="Bitstream Charter"/>
                <a:cs typeface="Bitstream Charter"/>
              </a:defRPr>
            </a:defPPr>
          </a:lstStyle>
          <a:p>
            <a:pPr>
              <a:defRPr sz="2025" b="0">
                <a:solidFill>
                  <a:srgbClr val="EDF3E9"/>
                </a:solidFill>
                <a:latin typeface="Bitstream Charter"/>
                <a:ea typeface="Bitstream Charter"/>
                <a:cs typeface="Bitstream Charter"/>
              </a:defRPr>
            </a:pPr>
            <a:r>
              <a:rPr sz="2025" b="0">
                <a:solidFill>
                  <a:srgbClr val="EDF3E9"/>
                </a:solidFill>
                <a:latin typeface="Bitstream Charter"/>
                <a:ea typeface="Bitstream Charter"/>
                <a:cs typeface="Bitstream Charter"/>
              </a:rPr>
              <a:t>CapturePrimaryScreen()</a:t>
            </a:r>
          </a:p>
          <a:p>
            <a:pPr>
              <a:defRPr sz="2025" b="0">
                <a:solidFill>
                  <a:srgbClr val="EDF3E9"/>
                </a:solidFill>
                <a:latin typeface="Bitstream Charter"/>
                <a:ea typeface="Bitstream Charter"/>
                <a:cs typeface="Bitstream Charter"/>
              </a:defRPr>
            </a:pPr>
            <a:r>
              <a:rPr sz="2025" b="0">
                <a:solidFill>
                  <a:srgbClr val="EDF3E9"/>
                </a:solidFill>
                <a:latin typeface="Bitstream Charter"/>
                <a:ea typeface="Bitstream Charter"/>
                <a:cs typeface="Bitstream Charter"/>
              </a:rPr>
              <a:t>returns BitmapSource.</a:t>
            </a:r>
          </a:p>
          <a:p>
            <a:endParaRPr sz="2025" b="0">
              <a:solidFill>
                <a:srgbClr val="EDF3E9"/>
              </a:solidFill>
              <a:latin typeface="Bitstream Charter"/>
              <a:ea typeface="Bitstream Charter"/>
              <a:cs typeface="Bitstream Charter"/>
            </a:endParaRPr>
          </a:p>
          <a:p>
            <a:pPr>
              <a:defRPr sz="2025" b="0">
                <a:solidFill>
                  <a:srgbClr val="EDF3E9"/>
                </a:solidFill>
                <a:latin typeface="Bitstream Charter"/>
                <a:ea typeface="Bitstream Charter"/>
                <a:cs typeface="Bitstream Charter"/>
              </a:defRPr>
            </a:pPr>
            <a:r>
              <a:rPr sz="2025" b="0">
                <a:solidFill>
                  <a:srgbClr val="EDF3E9"/>
                </a:solidFill>
                <a:latin typeface="Bitstream Charter"/>
                <a:ea typeface="Bitstream Charter"/>
                <a:cs typeface="Bitstream Charter"/>
              </a:rPr>
              <a:t>CaptureButton_Click stores it</a:t>
            </a:r>
          </a:p>
          <a:p>
            <a:pPr>
              <a:defRPr sz="2025" b="0">
                <a:solidFill>
                  <a:srgbClr val="EDF3E9"/>
                </a:solidFill>
                <a:latin typeface="Bitstream Charter"/>
                <a:ea typeface="Bitstream Charter"/>
                <a:cs typeface="Bitstream Charter"/>
              </a:defRPr>
            </a:pPr>
            <a:r>
              <a:rPr sz="2025" b="0">
                <a:solidFill>
                  <a:srgbClr val="EDF3E9"/>
                </a:solidFill>
                <a:latin typeface="Bitstream Charter"/>
                <a:ea typeface="Bitstream Charter"/>
                <a:cs typeface="Bitstream Charter"/>
              </a:rPr>
              <a:t>and updates CapturePreview.</a:t>
            </a:r>
          </a:p>
          <a:p>
            <a:endParaRPr sz="2025" b="0">
              <a:solidFill>
                <a:srgbClr val="EDF3E9"/>
              </a:solidFill>
              <a:latin typeface="Bitstream Charter"/>
              <a:ea typeface="Bitstream Charter"/>
              <a:cs typeface="Bitstream Charter"/>
            </a:endParaRPr>
          </a:p>
          <a:p>
            <a:pPr>
              <a:defRPr sz="2025" b="0">
                <a:solidFill>
                  <a:srgbClr val="EDF3E9"/>
                </a:solidFill>
                <a:latin typeface="Bitstream Charter"/>
                <a:ea typeface="Bitstream Charter"/>
                <a:cs typeface="Bitstream Charter"/>
              </a:defRPr>
            </a:pPr>
            <a:r>
              <a:rPr sz="2025" b="0">
                <a:solidFill>
                  <a:srgbClr val="EDF3E9"/>
                </a:solidFill>
                <a:latin typeface="Bitstream Charter"/>
                <a:ea typeface="Bitstream Charter"/>
                <a:cs typeface="Bitstream Charter"/>
              </a:rPr>
              <a:t>Save encodes that stored image</a:t>
            </a:r>
          </a:p>
          <a:p>
            <a:pPr>
              <a:defRPr sz="2025" b="0">
                <a:solidFill>
                  <a:srgbClr val="EDF3E9"/>
                </a:solidFill>
                <a:latin typeface="Bitstream Charter"/>
                <a:ea typeface="Bitstream Charter"/>
                <a:cs typeface="Bitstream Charter"/>
              </a:defRPr>
            </a:pPr>
            <a:r>
              <a:rPr sz="2025" b="0">
                <a:solidFill>
                  <a:srgbClr val="EDF3E9"/>
                </a:solidFill>
                <a:latin typeface="Bitstream Charter"/>
                <a:ea typeface="Bitstream Charter"/>
                <a:cs typeface="Bitstream Charter"/>
              </a:rPr>
              <a:t>as a PNG file.</a:t>
            </a:r>
          </a:p>
        </p:txBody>
      </p:sp>
      <p:sp>
        <p:nvSpPr>
          <p:cNvPr id="5" name="Rectangle 4">
            <a:extLst>
              <a:ext uri="{FF2B5EF4-FFF2-40B4-BE49-F238E27FC236}">
                <a16:creationId xmlns:a16="http://schemas.microsoft.com/office/drawing/2014/main" id="{9C15A537-7C21-4A84-9CA3-DD1BA5B5F75A}"/>
              </a:ext>
            </a:extLst>
          </p:cNvPr>
          <p:cNvSpPr>
            <a:spLocks noGrp="1"/>
          </p:cNvSpPr>
          <p:nvPr/>
        </p:nvSpPr>
        <p:spPr>
          <a:xfrm>
            <a:off x="571500" y="5762625"/>
            <a:ext cx="11049000" cy="428625"/>
          </a:xfrm>
          <a:prstGeom prst="rect">
            <a:avLst/>
          </a:prstGeom>
          <a:noFill/>
          <a:ln w="0">
            <a:noFill/>
          </a:ln>
        </p:spPr>
        <p:txBody>
          <a:bodyPr anchor="ctr">
            <a:noAutofit/>
          </a:bodyPr>
          <a:lstStyle>
            <a:defPPr>
              <a:defRPr sz="1875" b="0">
                <a:solidFill>
                  <a:srgbClr val="EDF3E9"/>
                </a:solidFill>
                <a:latin typeface="Bitstream Charter"/>
                <a:ea typeface="Bitstream Charter"/>
                <a:cs typeface="Bitstream Charter"/>
              </a:defRPr>
            </a:defPPr>
          </a:lstStyle>
          <a:p>
            <a:pPr>
              <a:defRPr sz="1875" b="0">
                <a:solidFill>
                  <a:srgbClr val="EDF3E9"/>
                </a:solidFill>
                <a:latin typeface="Bitstream Charter"/>
                <a:ea typeface="Bitstream Charter"/>
                <a:cs typeface="Bitstream Charter"/>
              </a:defRPr>
            </a:pPr>
            <a:r>
              <a:rPr sz="1875" b="0">
                <a:solidFill>
                  <a:srgbClr val="EDF3E9"/>
                </a:solidFill>
                <a:latin typeface="Bitstream Charter"/>
                <a:ea typeface="Bitstream Charter"/>
                <a:cs typeface="Bitstream Charter"/>
              </a:rPr>
              <a:t>Saved output: Evidence/7B/story-capture.png</a:t>
            </a:r>
          </a:p>
        </p:txBody>
      </p:sp>
    </p:spTree>
    <p:extLst>
      <p:ext uri="{BB962C8B-B14F-4D97-AF65-F5344CB8AC3E}">
        <p14:creationId xmlns:p14="http://schemas.microsoft.com/office/powerpoint/2010/main" val="12873164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03C40"/>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A9ECAB5-38BC-4397-BF0E-C7781B529283}"/>
              </a:ext>
            </a:extLst>
          </p:cNvPr>
          <p:cNvSpPr>
            <a:spLocks noGrp="1"/>
          </p:cNvSpPr>
          <p:nvPr/>
        </p:nvSpPr>
        <p:spPr>
          <a:xfrm>
            <a:off x="571500" y="333375"/>
            <a:ext cx="11049000" cy="781050"/>
          </a:xfrm>
          <a:prstGeom prst="rect">
            <a:avLst/>
          </a:prstGeom>
          <a:noFill/>
          <a:ln w="0">
            <a:noFill/>
          </a:ln>
        </p:spPr>
        <p:txBody>
          <a:bodyPr anchor="ctr">
            <a:noAutofit/>
          </a:bodyPr>
          <a:lstStyle>
            <a:defPPr>
              <a:defRPr sz="3300" b="1">
                <a:solidFill>
                  <a:srgbClr val="EED19B"/>
                </a:solidFill>
                <a:latin typeface="Bitstream Charter"/>
                <a:ea typeface="Bitstream Charter"/>
                <a:cs typeface="Bitstream Charter"/>
              </a:defRPr>
            </a:defPPr>
          </a:lstStyle>
          <a:p>
            <a:pPr>
              <a:defRPr sz="3300" b="1">
                <a:solidFill>
                  <a:srgbClr val="EED19B"/>
                </a:solidFill>
                <a:latin typeface="Bitstream Charter"/>
                <a:ea typeface="Bitstream Charter"/>
                <a:cs typeface="Bitstream Charter"/>
              </a:defRPr>
            </a:pPr>
            <a:r>
              <a:rPr sz="3300" b="1">
                <a:solidFill>
                  <a:srgbClr val="EED19B"/>
                </a:solidFill>
                <a:latin typeface="Bitstream Charter"/>
                <a:ea typeface="Bitstream Charter"/>
                <a:cs typeface="Bitstream Charter"/>
              </a:rPr>
              <a:t>Tests and the AI check</a:t>
            </a:r>
          </a:p>
        </p:txBody>
      </p:sp>
      <p:sp>
        <p:nvSpPr>
          <p:cNvPr id="2" name="Rectangle 1">
            <a:extLst>
              <a:ext uri="{FF2B5EF4-FFF2-40B4-BE49-F238E27FC236}">
                <a16:creationId xmlns:a16="http://schemas.microsoft.com/office/drawing/2014/main" id="{6C4ED6D9-694A-4CA5-AE83-6910DF90EDD1}"/>
              </a:ext>
            </a:extLst>
          </p:cNvPr>
          <p:cNvSpPr>
            <a:spLocks noGrp="1"/>
          </p:cNvSpPr>
          <p:nvPr/>
        </p:nvSpPr>
        <p:spPr>
          <a:xfrm>
            <a:off x="571500" y="6429375"/>
            <a:ext cx="9525000" cy="228600"/>
          </a:xfrm>
          <a:prstGeom prst="rect">
            <a:avLst/>
          </a:prstGeom>
          <a:noFill/>
          <a:ln w="0">
            <a:noFill/>
          </a:ln>
        </p:spPr>
        <p:txBody>
          <a:bodyPr anchor="ctr">
            <a:noAutofit/>
          </a:bodyPr>
          <a:lstStyle>
            <a:defPPr>
              <a:defRPr sz="1350" b="0">
                <a:solidFill>
                  <a:srgbClr val="BDCEC7"/>
                </a:solidFill>
                <a:latin typeface="Bitstream Charter"/>
                <a:ea typeface="Bitstream Charter"/>
                <a:cs typeface="Bitstream Charter"/>
              </a:defRPr>
            </a:defPPr>
          </a:lstStyle>
          <a:p>
            <a:pPr>
              <a:defRPr sz="1350" b="0">
                <a:solidFill>
                  <a:srgbClr val="BDCEC7"/>
                </a:solidFill>
                <a:latin typeface="Bitstream Charter"/>
                <a:ea typeface="Bitstream Charter"/>
                <a:cs typeface="Bitstream Charter"/>
              </a:defRPr>
            </a:pPr>
            <a:r>
              <a:rPr sz="1350" b="0">
                <a:solidFill>
                  <a:srgbClr val="BDCEC7"/>
                </a:solidFill>
                <a:latin typeface="Bitstream Charter"/>
                <a:ea typeface="Bitstream Charter"/>
                <a:cs typeface="Bitstream Charter"/>
              </a:rPr>
              <a:t>Greenward / CS110 Week 7</a:t>
            </a:r>
          </a:p>
        </p:txBody>
      </p:sp>
      <p:pic>
        <p:nvPicPr>
          <p:cNvPr id="3" name="Picture 2">
            <a:extLst>
              <a:ext uri="{FF2B5EF4-FFF2-40B4-BE49-F238E27FC236}">
                <a16:creationId xmlns:a16="http://schemas.microsoft.com/office/drawing/2014/main" id="{F11F64F3-5EFF-4563-A5EC-A15A218CF4A0}"/>
              </a:ext>
            </a:extLst>
          </p:cNvPr>
          <p:cNvPicPr>
            <a:picLocks noChangeAspect="1"/>
          </p:cNvPicPr>
          <p:nvPr/>
        </p:nvPicPr>
        <p:blipFill>
          <a:blip r:embed="rId3"/>
          <a:stretch/>
        </p:blipFill>
        <p:spPr>
          <a:xfrm>
            <a:off x="571500" y="1673801"/>
            <a:ext cx="5715000" cy="3558023"/>
          </a:xfrm>
          <a:prstGeom prst="rect">
            <a:avLst/>
          </a:prstGeom>
        </p:spPr>
      </p:pic>
      <p:sp>
        <p:nvSpPr>
          <p:cNvPr id="4" name="Rectangle 3">
            <a:extLst>
              <a:ext uri="{FF2B5EF4-FFF2-40B4-BE49-F238E27FC236}">
                <a16:creationId xmlns:a16="http://schemas.microsoft.com/office/drawing/2014/main" id="{F1D0280B-E83C-4CF1-A3BB-9F7D32CACC7D}"/>
              </a:ext>
            </a:extLst>
          </p:cNvPr>
          <p:cNvSpPr>
            <a:spLocks noGrp="1"/>
          </p:cNvSpPr>
          <p:nvPr/>
        </p:nvSpPr>
        <p:spPr>
          <a:xfrm>
            <a:off x="6715125" y="1524000"/>
            <a:ext cx="4905375" cy="2905125"/>
          </a:xfrm>
          <a:prstGeom prst="rect">
            <a:avLst/>
          </a:prstGeom>
          <a:noFill/>
          <a:ln w="0">
            <a:noFill/>
          </a:ln>
        </p:spPr>
        <p:txBody>
          <a:bodyPr anchor="ctr">
            <a:noAutofit/>
          </a:bodyPr>
          <a:lstStyle>
            <a:defPPr>
              <a:defRPr sz="1950" b="0">
                <a:solidFill>
                  <a:srgbClr val="EDF3E9"/>
                </a:solidFill>
                <a:latin typeface="Bitstream Charter"/>
                <a:ea typeface="Bitstream Charter"/>
                <a:cs typeface="Bitstream Charter"/>
              </a:defRPr>
            </a:defPPr>
          </a:lstStyle>
          <a:p>
            <a:pPr>
              <a:defRPr sz="1950" b="0">
                <a:solidFill>
                  <a:srgbClr val="EDF3E9"/>
                </a:solidFill>
                <a:latin typeface="Bitstream Charter"/>
                <a:ea typeface="Bitstream Charter"/>
                <a:cs typeface="Bitstream Charter"/>
              </a:defRPr>
            </a:pPr>
            <a:r>
              <a:rPr sz="1950" b="0">
                <a:solidFill>
                  <a:srgbClr val="EDF3E9"/>
                </a:solidFill>
                <a:latin typeface="Bitstream Charter"/>
                <a:ea typeface="Bitstream Charter"/>
                <a:cs typeface="Bitstream Charter"/>
              </a:rPr>
              <a:t>Recorded 7B results: Pass</a:t>
            </a:r>
          </a:p>
          <a:p>
            <a:pPr>
              <a:defRPr sz="1950" b="0">
                <a:solidFill>
                  <a:srgbClr val="EDF3E9"/>
                </a:solidFill>
                <a:latin typeface="Bitstream Charter"/>
                <a:ea typeface="Bitstream Charter"/>
                <a:cs typeface="Bitstream Charter"/>
              </a:defRPr>
            </a:pPr>
            <a:r>
              <a:rPr sz="1950" b="0">
                <a:solidFill>
                  <a:srgbClr val="EDF3E9"/>
                </a:solidFill>
                <a:latin typeface="Bitstream Charter"/>
                <a:ea typeface="Bitstream Charter"/>
                <a:cs typeface="Bitstream Charter"/>
              </a:rPr>
              <a:t>Save disabled before Capture</a:t>
            </a:r>
          </a:p>
          <a:p>
            <a:pPr>
              <a:defRPr sz="1950" b="0">
                <a:solidFill>
                  <a:srgbClr val="EDF3E9"/>
                </a:solidFill>
                <a:latin typeface="Bitstream Charter"/>
                <a:ea typeface="Bitstream Charter"/>
                <a:cs typeface="Bitstream Charter"/>
              </a:defRPr>
            </a:pPr>
            <a:r>
              <a:rPr sz="1950" b="0">
                <a:solidFill>
                  <a:srgbClr val="EDF3E9"/>
                </a:solidFill>
                <a:latin typeface="Bitstream Charter"/>
                <a:ea typeface="Bitstream Charter"/>
                <a:cs typeface="Bitstream Charter"/>
              </a:rPr>
              <a:t>Capture and reopen saved PNG</a:t>
            </a:r>
          </a:p>
          <a:p>
            <a:pPr>
              <a:defRPr sz="1950" b="0">
                <a:solidFill>
                  <a:srgbClr val="EDF3E9"/>
                </a:solidFill>
                <a:latin typeface="Bitstream Charter"/>
                <a:ea typeface="Bitstream Charter"/>
                <a:cs typeface="Bitstream Charter"/>
              </a:defRPr>
            </a:pPr>
            <a:r>
              <a:rPr sz="1950" b="0">
                <a:solidFill>
                  <a:srgbClr val="EDF3E9"/>
                </a:solidFill>
                <a:latin typeface="Bitstream Charter"/>
                <a:ea typeface="Bitstream Charter"/>
                <a:cs typeface="Bitstream Charter"/>
              </a:rPr>
              <a:t>Cancel keeps preview and slide 2</a:t>
            </a:r>
          </a:p>
          <a:p>
            <a:pPr>
              <a:defRPr sz="1950" b="0">
                <a:solidFill>
                  <a:srgbClr val="EDF3E9"/>
                </a:solidFill>
                <a:latin typeface="Bitstream Charter"/>
                <a:ea typeface="Bitstream Charter"/>
                <a:cs typeface="Bitstream Charter"/>
              </a:defRPr>
            </a:pPr>
            <a:r>
              <a:rPr sz="1950" b="0">
                <a:solidFill>
                  <a:srgbClr val="EDF3E9"/>
                </a:solidFill>
                <a:latin typeface="Bitstream Charter"/>
                <a:ea typeface="Bitstream Charter"/>
                <a:cs typeface="Bitstream Charter"/>
              </a:rPr>
              <a:t>Clear disables Save</a:t>
            </a:r>
          </a:p>
          <a:p>
            <a:pPr>
              <a:defRPr sz="1950" b="0">
                <a:solidFill>
                  <a:srgbClr val="EDF3E9"/>
                </a:solidFill>
                <a:latin typeface="Bitstream Charter"/>
                <a:ea typeface="Bitstream Charter"/>
                <a:cs typeface="Bitstream Charter"/>
              </a:defRPr>
            </a:pPr>
            <a:r>
              <a:rPr sz="1950" b="0">
                <a:solidFill>
                  <a:srgbClr val="EDF3E9"/>
                </a:solidFill>
                <a:latin typeface="Bitstream Charter"/>
                <a:ea typeface="Bitstream Charter"/>
                <a:cs typeface="Bitstream Charter"/>
              </a:rPr>
              <a:t>Capture again and story navigation</a:t>
            </a:r>
          </a:p>
        </p:txBody>
      </p:sp>
      <p:sp>
        <p:nvSpPr>
          <p:cNvPr id="7" name="TextBox 6">
            <a:extLst>
              <a:ext uri="{FF2B5EF4-FFF2-40B4-BE49-F238E27FC236}">
                <a16:creationId xmlns:a16="http://schemas.microsoft.com/office/drawing/2014/main" id="{A759C4BC-D01B-0EBC-8DAB-0DD6F0BF7570}"/>
              </a:ext>
            </a:extLst>
          </p:cNvPr>
          <p:cNvSpPr txBox="1"/>
          <p:nvPr/>
        </p:nvSpPr>
        <p:spPr>
          <a:xfrm>
            <a:off x="7061454" y="4630270"/>
            <a:ext cx="3344418" cy="646331"/>
          </a:xfrm>
          <a:prstGeom prst="rect">
            <a:avLst/>
          </a:prstGeom>
          <a:noFill/>
        </p:spPr>
        <p:txBody>
          <a:bodyPr wrap="square">
            <a:spAutoFit/>
          </a:bodyPr>
          <a:lstStyle/>
          <a:p>
            <a:r>
              <a:rPr lang="en-US" sz="1200" dirty="0">
                <a:solidFill>
                  <a:srgbClr val="FFFF00"/>
                </a:solidFill>
              </a:rPr>
              <a:t>Cancel tested on slide 1 (</a:t>
            </a:r>
            <a:r>
              <a:rPr lang="en-US" sz="1200" dirty="0" err="1">
                <a:solidFill>
                  <a:srgbClr val="FFFF00"/>
                </a:solidFill>
              </a:rPr>
              <a:t>currentSlide</a:t>
            </a:r>
            <a:r>
              <a:rPr lang="en-US" sz="1200" dirty="0">
                <a:solidFill>
                  <a:srgbClr val="FFFF00"/>
                </a:solidFill>
              </a:rPr>
              <a:t> = 0).</a:t>
            </a:r>
          </a:p>
          <a:p>
            <a:r>
              <a:rPr lang="en-US" sz="1200" dirty="0">
                <a:solidFill>
                  <a:srgbClr val="FFFF00"/>
                </a:solidFill>
              </a:rPr>
              <a:t>Preview kept; slide unchanged; no new file created.</a:t>
            </a:r>
          </a:p>
        </p:txBody>
      </p:sp>
    </p:spTree>
    <p:extLst>
      <p:ext uri="{BB962C8B-B14F-4D97-AF65-F5344CB8AC3E}">
        <p14:creationId xmlns:p14="http://schemas.microsoft.com/office/powerpoint/2010/main" val="20420090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03C40"/>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BA5C607-256D-4022-AF3F-C49CDBB9CAC1}"/>
              </a:ext>
            </a:extLst>
          </p:cNvPr>
          <p:cNvSpPr>
            <a:spLocks noGrp="1"/>
          </p:cNvSpPr>
          <p:nvPr/>
        </p:nvSpPr>
        <p:spPr>
          <a:xfrm>
            <a:off x="571500" y="333375"/>
            <a:ext cx="11049000" cy="781050"/>
          </a:xfrm>
          <a:prstGeom prst="rect">
            <a:avLst/>
          </a:prstGeom>
          <a:noFill/>
          <a:ln w="0">
            <a:noFill/>
          </a:ln>
        </p:spPr>
        <p:txBody>
          <a:bodyPr anchor="ctr">
            <a:noAutofit/>
          </a:bodyPr>
          <a:lstStyle>
            <a:defPPr>
              <a:defRPr sz="3300" b="1">
                <a:solidFill>
                  <a:srgbClr val="EED19B"/>
                </a:solidFill>
                <a:latin typeface="Bitstream Charter"/>
                <a:ea typeface="Bitstream Charter"/>
                <a:cs typeface="Bitstream Charter"/>
              </a:defRPr>
            </a:defPPr>
          </a:lstStyle>
          <a:p>
            <a:pPr>
              <a:defRPr sz="3300" b="1">
                <a:solidFill>
                  <a:srgbClr val="EED19B"/>
                </a:solidFill>
                <a:latin typeface="Bitstream Charter"/>
                <a:ea typeface="Bitstream Charter"/>
                <a:cs typeface="Bitstream Charter"/>
              </a:defRPr>
            </a:pPr>
            <a:r>
              <a:rPr sz="3300" b="1">
                <a:solidFill>
                  <a:srgbClr val="EED19B"/>
                </a:solidFill>
                <a:latin typeface="Bitstream Charter"/>
                <a:ea typeface="Bitstream Charter"/>
                <a:cs typeface="Bitstream Charter"/>
              </a:rPr>
              <a:t>Contributions and handoff</a:t>
            </a:r>
          </a:p>
        </p:txBody>
      </p:sp>
      <p:sp>
        <p:nvSpPr>
          <p:cNvPr id="2" name="Rectangle 1">
            <a:extLst>
              <a:ext uri="{FF2B5EF4-FFF2-40B4-BE49-F238E27FC236}">
                <a16:creationId xmlns:a16="http://schemas.microsoft.com/office/drawing/2014/main" id="{B71DD556-7218-4D2E-B570-5B4B3EE9D1D4}"/>
              </a:ext>
            </a:extLst>
          </p:cNvPr>
          <p:cNvSpPr>
            <a:spLocks noGrp="1"/>
          </p:cNvSpPr>
          <p:nvPr/>
        </p:nvSpPr>
        <p:spPr>
          <a:xfrm>
            <a:off x="571500" y="6429375"/>
            <a:ext cx="9525000" cy="228600"/>
          </a:xfrm>
          <a:prstGeom prst="rect">
            <a:avLst/>
          </a:prstGeom>
          <a:noFill/>
          <a:ln w="0">
            <a:noFill/>
          </a:ln>
        </p:spPr>
        <p:txBody>
          <a:bodyPr anchor="ctr">
            <a:noAutofit/>
          </a:bodyPr>
          <a:lstStyle>
            <a:defPPr>
              <a:defRPr sz="1350" b="0">
                <a:solidFill>
                  <a:srgbClr val="BDCEC7"/>
                </a:solidFill>
                <a:latin typeface="Bitstream Charter"/>
                <a:ea typeface="Bitstream Charter"/>
                <a:cs typeface="Bitstream Charter"/>
              </a:defRPr>
            </a:defPPr>
          </a:lstStyle>
          <a:p>
            <a:pPr>
              <a:defRPr sz="1350" b="0">
                <a:solidFill>
                  <a:srgbClr val="BDCEC7"/>
                </a:solidFill>
                <a:latin typeface="Bitstream Charter"/>
                <a:ea typeface="Bitstream Charter"/>
                <a:cs typeface="Bitstream Charter"/>
              </a:defRPr>
            </a:pPr>
            <a:r>
              <a:rPr sz="1350" b="0">
                <a:solidFill>
                  <a:srgbClr val="BDCEC7"/>
                </a:solidFill>
                <a:latin typeface="Bitstream Charter"/>
                <a:ea typeface="Bitstream Charter"/>
                <a:cs typeface="Bitstream Charter"/>
              </a:rPr>
              <a:t>Greenward / CS110 Week 7</a:t>
            </a:r>
          </a:p>
        </p:txBody>
      </p:sp>
      <p:sp>
        <p:nvSpPr>
          <p:cNvPr id="3" name="Rectangle 2">
            <a:extLst>
              <a:ext uri="{FF2B5EF4-FFF2-40B4-BE49-F238E27FC236}">
                <a16:creationId xmlns:a16="http://schemas.microsoft.com/office/drawing/2014/main" id="{32F565A9-3F91-4B38-A6C8-152F3100AC16}"/>
              </a:ext>
            </a:extLst>
          </p:cNvPr>
          <p:cNvSpPr>
            <a:spLocks noGrp="1"/>
          </p:cNvSpPr>
          <p:nvPr/>
        </p:nvSpPr>
        <p:spPr>
          <a:xfrm>
            <a:off x="571500" y="1333500"/>
            <a:ext cx="5334000" cy="428625"/>
          </a:xfrm>
          <a:prstGeom prst="rect">
            <a:avLst/>
          </a:prstGeom>
          <a:noFill/>
          <a:ln w="0">
            <a:noFill/>
          </a:ln>
        </p:spPr>
        <p:txBody>
          <a:bodyPr anchor="ctr">
            <a:noAutofit/>
          </a:bodyPr>
          <a:lstStyle>
            <a:defPPr>
              <a:defRPr sz="2325" b="1">
                <a:solidFill>
                  <a:srgbClr val="EDF3E9"/>
                </a:solidFill>
                <a:latin typeface="Bitstream Charter"/>
                <a:ea typeface="Bitstream Charter"/>
                <a:cs typeface="Bitstream Charter"/>
              </a:defRPr>
            </a:defPPr>
          </a:lstStyle>
          <a:p>
            <a:pPr>
              <a:defRPr sz="2325" b="1">
                <a:solidFill>
                  <a:srgbClr val="EDF3E9"/>
                </a:solidFill>
                <a:latin typeface="Bitstream Charter"/>
                <a:ea typeface="Bitstream Charter"/>
                <a:cs typeface="Bitstream Charter"/>
              </a:defRPr>
            </a:pPr>
            <a:r>
              <a:rPr sz="2325" b="1">
                <a:solidFill>
                  <a:srgbClr val="EDF3E9"/>
                </a:solidFill>
                <a:latin typeface="Bitstream Charter"/>
                <a:ea typeface="Bitstream Charter"/>
                <a:cs typeface="Bitstream Charter"/>
              </a:rPr>
              <a:t>Student work</a:t>
            </a:r>
          </a:p>
        </p:txBody>
      </p:sp>
      <p:sp>
        <p:nvSpPr>
          <p:cNvPr id="4" name="Rectangle 3">
            <a:extLst>
              <a:ext uri="{FF2B5EF4-FFF2-40B4-BE49-F238E27FC236}">
                <a16:creationId xmlns:a16="http://schemas.microsoft.com/office/drawing/2014/main" id="{2BC96A14-C866-47D3-A974-CF0D8D89417A}"/>
              </a:ext>
            </a:extLst>
          </p:cNvPr>
          <p:cNvSpPr>
            <a:spLocks noGrp="1"/>
          </p:cNvSpPr>
          <p:nvPr/>
        </p:nvSpPr>
        <p:spPr>
          <a:xfrm>
            <a:off x="571500" y="1952625"/>
            <a:ext cx="10668000" cy="1381125"/>
          </a:xfrm>
          <a:prstGeom prst="rect">
            <a:avLst/>
          </a:prstGeom>
          <a:noFill/>
          <a:ln w="0">
            <a:noFill/>
          </a:ln>
        </p:spPr>
        <p:txBody>
          <a:bodyPr anchor="ctr">
            <a:noAutofit/>
          </a:bodyPr>
          <a:lstStyle>
            <a:defPPr>
              <a:defRPr sz="2025" b="0">
                <a:solidFill>
                  <a:srgbClr val="EDF3E9"/>
                </a:solidFill>
                <a:latin typeface="Bitstream Charter"/>
                <a:ea typeface="Bitstream Charter"/>
                <a:cs typeface="Bitstream Charter"/>
              </a:defRPr>
            </a:defPPr>
          </a:lstStyle>
          <a:p>
            <a:pPr>
              <a:defRPr sz="2025" b="0">
                <a:solidFill>
                  <a:srgbClr val="EDF3E9"/>
                </a:solidFill>
                <a:latin typeface="Bitstream Charter"/>
                <a:ea typeface="Bitstream Charter"/>
                <a:cs typeface="Bitstream Charter"/>
              </a:defRPr>
            </a:pPr>
            <a:r>
              <a:rPr sz="2025" b="0">
                <a:solidFill>
                  <a:srgbClr val="EDF3E9"/>
                </a:solidFill>
                <a:latin typeface="Bitstream Charter"/>
                <a:ea typeface="Bitstream Charter"/>
                <a:cs typeface="Bitstream Charter"/>
              </a:rPr>
              <a:t>Integrated the course starter and capture snippets.</a:t>
            </a:r>
          </a:p>
          <a:p>
            <a:pPr>
              <a:defRPr sz="2025" b="0">
                <a:solidFill>
                  <a:srgbClr val="EDF3E9"/>
                </a:solidFill>
                <a:latin typeface="Bitstream Charter"/>
                <a:ea typeface="Bitstream Charter"/>
                <a:cs typeface="Bitstream Charter"/>
              </a:defRPr>
            </a:pPr>
            <a:r>
              <a:rPr sz="2025" b="0">
                <a:solidFill>
                  <a:srgbClr val="EDF3E9"/>
                </a:solidFill>
                <a:latin typeface="Bitstream Charter"/>
                <a:ea typeface="Bitstream Charter"/>
                <a:cs typeface="Bitstream Charter"/>
              </a:rPr>
              <a:t>Added the story images and ran the 7A/7B checks.</a:t>
            </a:r>
          </a:p>
          <a:p>
            <a:pPr>
              <a:defRPr sz="2025" b="0">
                <a:solidFill>
                  <a:srgbClr val="EDF3E9"/>
                </a:solidFill>
                <a:latin typeface="Bitstream Charter"/>
                <a:ea typeface="Bitstream Charter"/>
                <a:cs typeface="Bitstream Charter"/>
              </a:defRPr>
            </a:pPr>
            <a:r>
              <a:rPr sz="2025" b="0">
                <a:solidFill>
                  <a:srgbClr val="EDF3E9"/>
                </a:solidFill>
                <a:latin typeface="Bitstream Charter"/>
                <a:ea typeface="Bitstream Charter"/>
                <a:cs typeface="Bitstream Charter"/>
              </a:rPr>
              <a:t>Recorded evidence and pushed the GitHub checkpoints.</a:t>
            </a:r>
          </a:p>
        </p:txBody>
      </p:sp>
      <p:sp>
        <p:nvSpPr>
          <p:cNvPr id="5" name="Rectangle 4">
            <a:extLst>
              <a:ext uri="{FF2B5EF4-FFF2-40B4-BE49-F238E27FC236}">
                <a16:creationId xmlns:a16="http://schemas.microsoft.com/office/drawing/2014/main" id="{11AEA564-5E4E-4CD7-9591-88E67E38E11D}"/>
              </a:ext>
            </a:extLst>
          </p:cNvPr>
          <p:cNvSpPr>
            <a:spLocks noGrp="1"/>
          </p:cNvSpPr>
          <p:nvPr/>
        </p:nvSpPr>
        <p:spPr>
          <a:xfrm>
            <a:off x="571500" y="3667125"/>
            <a:ext cx="10668000" cy="428625"/>
          </a:xfrm>
          <a:prstGeom prst="rect">
            <a:avLst/>
          </a:prstGeom>
          <a:noFill/>
          <a:ln w="0">
            <a:noFill/>
          </a:ln>
        </p:spPr>
        <p:txBody>
          <a:bodyPr anchor="ctr">
            <a:noAutofit/>
          </a:bodyPr>
          <a:lstStyle>
            <a:defPPr>
              <a:defRPr sz="2325" b="1">
                <a:solidFill>
                  <a:srgbClr val="EDF3E9"/>
                </a:solidFill>
                <a:latin typeface="Bitstream Charter"/>
                <a:ea typeface="Bitstream Charter"/>
                <a:cs typeface="Bitstream Charter"/>
              </a:defRPr>
            </a:defPPr>
          </a:lstStyle>
          <a:p>
            <a:pPr>
              <a:defRPr sz="2325" b="1">
                <a:solidFill>
                  <a:srgbClr val="EDF3E9"/>
                </a:solidFill>
                <a:latin typeface="Bitstream Charter"/>
                <a:ea typeface="Bitstream Charter"/>
                <a:cs typeface="Bitstream Charter"/>
              </a:defRPr>
            </a:pPr>
            <a:r>
              <a:rPr sz="2325" b="1">
                <a:solidFill>
                  <a:srgbClr val="EDF3E9"/>
                </a:solidFill>
                <a:latin typeface="Bitstream Charter"/>
                <a:ea typeface="Bitstream Charter"/>
                <a:cs typeface="Bitstream Charter"/>
              </a:rPr>
              <a:t>Credits and limits</a:t>
            </a:r>
          </a:p>
        </p:txBody>
      </p:sp>
      <p:sp>
        <p:nvSpPr>
          <p:cNvPr id="6" name="Rectangle 5">
            <a:extLst>
              <a:ext uri="{FF2B5EF4-FFF2-40B4-BE49-F238E27FC236}">
                <a16:creationId xmlns:a16="http://schemas.microsoft.com/office/drawing/2014/main" id="{5B267FFF-29DC-4138-9C96-B33CAA207C99}"/>
              </a:ext>
            </a:extLst>
          </p:cNvPr>
          <p:cNvSpPr>
            <a:spLocks noGrp="1"/>
          </p:cNvSpPr>
          <p:nvPr/>
        </p:nvSpPr>
        <p:spPr>
          <a:xfrm>
            <a:off x="571500" y="4286250"/>
            <a:ext cx="10668000" cy="1238250"/>
          </a:xfrm>
          <a:prstGeom prst="rect">
            <a:avLst/>
          </a:prstGeom>
          <a:noFill/>
          <a:ln w="0">
            <a:noFill/>
          </a:ln>
        </p:spPr>
        <p:txBody>
          <a:bodyPr anchor="ctr">
            <a:noAutofit/>
          </a:bodyPr>
          <a:lstStyle>
            <a:defPPr>
              <a:defRPr sz="1950" b="0">
                <a:solidFill>
                  <a:srgbClr val="EDF3E9"/>
                </a:solidFill>
                <a:latin typeface="Bitstream Charter"/>
                <a:ea typeface="Bitstream Charter"/>
                <a:cs typeface="Bitstream Charter"/>
              </a:defRPr>
            </a:defPPr>
          </a:lstStyle>
          <a:p>
            <a:pPr>
              <a:defRPr sz="1950" b="0">
                <a:solidFill>
                  <a:srgbClr val="EDF3E9"/>
                </a:solidFill>
                <a:latin typeface="Bitstream Charter"/>
                <a:ea typeface="Bitstream Charter"/>
                <a:cs typeface="Bitstream Charter"/>
              </a:defRPr>
            </a:pPr>
            <a:r>
              <a:rPr sz="1950" b="0">
                <a:solidFill>
                  <a:srgbClr val="EDF3E9"/>
                </a:solidFill>
                <a:latin typeface="Bitstream Charter"/>
                <a:ea typeface="Bitstream Charter"/>
                <a:cs typeface="Bitstream Charter"/>
              </a:rPr>
              <a:t>Course: WPF starter, CaptureService and integration snippets.</a:t>
            </a:r>
          </a:p>
          <a:p>
            <a:pPr>
              <a:defRPr sz="1950" b="0">
                <a:solidFill>
                  <a:srgbClr val="EDF3E9"/>
                </a:solidFill>
                <a:latin typeface="Bitstream Charter"/>
                <a:ea typeface="Bitstream Charter"/>
                <a:cs typeface="Bitstream Charter"/>
              </a:defRPr>
            </a:pPr>
            <a:r>
              <a:rPr sz="1950" b="0">
                <a:solidFill>
                  <a:srgbClr val="EDF3E9"/>
                </a:solidFill>
                <a:latin typeface="Bitstream Charter"/>
                <a:ea typeface="Bitstream Charter"/>
                <a:cs typeface="Bitstream Charter"/>
              </a:rPr>
              <a:t>ChatGPT: illustrations, prototype, explanations and documentation.</a:t>
            </a:r>
          </a:p>
          <a:p>
            <a:pPr>
              <a:defRPr sz="1950" b="0">
                <a:solidFill>
                  <a:srgbClr val="EDF3E9"/>
                </a:solidFill>
                <a:latin typeface="Bitstream Charter"/>
                <a:ea typeface="Bitstream Charter"/>
                <a:cs typeface="Bitstream Charter"/>
              </a:defRPr>
            </a:pPr>
            <a:r>
              <a:rPr sz="1950" b="0">
                <a:solidFill>
                  <a:srgbClr val="EDF3E9"/>
                </a:solidFill>
                <a:latin typeface="Bitstream Charter"/>
                <a:ea typeface="Bitstream Charter"/>
                <a:cs typeface="Bitstream Charter"/>
              </a:rPr>
              <a:t>Requires Windows and .NET 10. Captures the primary display.</a:t>
            </a:r>
          </a:p>
        </p:txBody>
      </p:sp>
      <p:sp>
        <p:nvSpPr>
          <p:cNvPr id="7" name="Rectangle 6">
            <a:extLst>
              <a:ext uri="{FF2B5EF4-FFF2-40B4-BE49-F238E27FC236}">
                <a16:creationId xmlns:a16="http://schemas.microsoft.com/office/drawing/2014/main" id="{B885783F-F1B7-47B1-A617-D59E47DEFBBF}"/>
              </a:ext>
            </a:extLst>
          </p:cNvPr>
          <p:cNvSpPr>
            <a:spLocks noGrp="1"/>
          </p:cNvSpPr>
          <p:nvPr/>
        </p:nvSpPr>
        <p:spPr>
          <a:xfrm>
            <a:off x="571500" y="5762625"/>
            <a:ext cx="11049000" cy="381000"/>
          </a:xfrm>
          <a:prstGeom prst="rect">
            <a:avLst/>
          </a:prstGeom>
          <a:noFill/>
          <a:ln w="0">
            <a:noFill/>
          </a:ln>
        </p:spPr>
        <p:txBody>
          <a:bodyPr anchor="ctr">
            <a:noAutofit/>
          </a:bodyPr>
          <a:lstStyle>
            <a:defPPr>
              <a:defRPr sz="1800" b="0">
                <a:solidFill>
                  <a:srgbClr val="EED19B"/>
                </a:solidFill>
                <a:latin typeface="Bitstream Charter"/>
                <a:ea typeface="Bitstream Charter"/>
                <a:cs typeface="Bitstream Charter"/>
              </a:defRPr>
            </a:defPPr>
          </a:lstStyle>
          <a:p>
            <a:pPr>
              <a:defRPr sz="1800" b="0">
                <a:solidFill>
                  <a:srgbClr val="EED19B"/>
                </a:solidFill>
                <a:latin typeface="Bitstream Charter"/>
                <a:ea typeface="Bitstream Charter"/>
                <a:cs typeface="Bitstream Charter"/>
              </a:defRPr>
            </a:pPr>
            <a:r>
              <a:rPr lang="en-US" sz="1800" b="0" dirty="0">
                <a:solidFill>
                  <a:srgbClr val="EED19B"/>
                </a:solidFill>
                <a:latin typeface="Bitstream Charter"/>
                <a:ea typeface="Bitstream Charter"/>
                <a:cs typeface="Bitstream Charter"/>
              </a:rPr>
              <a:t>Release build passed: 1 succeeded, 0 failed.</a:t>
            </a:r>
          </a:p>
          <a:p>
            <a:pPr>
              <a:defRPr sz="1800" b="0">
                <a:solidFill>
                  <a:srgbClr val="EED19B"/>
                </a:solidFill>
                <a:latin typeface="Bitstream Charter"/>
                <a:ea typeface="Bitstream Charter"/>
                <a:cs typeface="Bitstream Charter"/>
              </a:defRPr>
            </a:pPr>
            <a:r>
              <a:rPr lang="en-US" sz="1800" b="0" dirty="0">
                <a:solidFill>
                  <a:srgbClr val="EED19B"/>
                </a:solidFill>
                <a:latin typeface="Bitstream Charter"/>
                <a:ea typeface="Bitstream Charter"/>
                <a:cs typeface="Bitstream Charter"/>
              </a:rPr>
              <a:t>Another person extracted the ZIP, built and ran the app,</a:t>
            </a:r>
          </a:p>
          <a:p>
            <a:pPr>
              <a:defRPr sz="1800" b="0">
                <a:solidFill>
                  <a:srgbClr val="EED19B"/>
                </a:solidFill>
                <a:latin typeface="Bitstream Charter"/>
                <a:ea typeface="Bitstream Charter"/>
                <a:cs typeface="Bitstream Charter"/>
              </a:defRPr>
            </a:pPr>
            <a:r>
              <a:rPr lang="en-US" sz="1800" b="0" dirty="0">
                <a:solidFill>
                  <a:srgbClr val="EED19B"/>
                </a:solidFill>
                <a:latin typeface="Bitstream Charter"/>
                <a:ea typeface="Bitstream Charter"/>
                <a:cs typeface="Bitstream Charter"/>
              </a:rPr>
              <a:t>tested all slides, captured the screen and saved a PNG.</a:t>
            </a:r>
          </a:p>
          <a:p>
            <a:pPr>
              <a:defRPr sz="1800" b="0">
                <a:solidFill>
                  <a:srgbClr val="EED19B"/>
                </a:solidFill>
                <a:latin typeface="Bitstream Charter"/>
                <a:ea typeface="Bitstream Charter"/>
                <a:cs typeface="Bitstream Charter"/>
              </a:defRPr>
            </a:pPr>
            <a:r>
              <a:rPr lang="en-US" sz="1800" b="0" dirty="0">
                <a:solidFill>
                  <a:srgbClr val="EED19B"/>
                </a:solidFill>
                <a:latin typeface="Bitstream Charter"/>
                <a:ea typeface="Bitstream Charter"/>
                <a:cs typeface="Bitstream Charter"/>
              </a:rPr>
              <a:t>Result: PASS. No repairs needed.</a:t>
            </a:r>
            <a:endParaRPr sz="1800" b="0" dirty="0">
              <a:solidFill>
                <a:srgbClr val="EED19B"/>
              </a:solidFill>
              <a:latin typeface="Bitstream Charter"/>
              <a:ea typeface="Bitstream Charter"/>
              <a:cs typeface="Bitstream Charter"/>
            </a:endParaRPr>
          </a:p>
        </p:txBody>
      </p:sp>
    </p:spTree>
    <p:extLst>
      <p:ext uri="{BB962C8B-B14F-4D97-AF65-F5344CB8AC3E}">
        <p14:creationId xmlns:p14="http://schemas.microsoft.com/office/powerpoint/2010/main" val="514783575"/>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886</Words>
  <Application>Microsoft Office PowerPoint</Application>
  <DocSecurity>0</DocSecurity>
  <PresentationFormat>Widescreen</PresentationFormat>
  <Paragraphs>87</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Aptos</vt:lpstr>
      <vt:lpstr>Bitstream Charter</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Lib</cp:lastModifiedBy>
  <cp:revision>3</cp:revision>
  <dcterms:created xsi:type="dcterms:W3CDTF">2026-10-09T21:04:23Z</dcterms:created>
  <dcterms:modified xsi:type="dcterms:W3CDTF">2026-10-09T22:02:39Z</dcterms:modified>
</cp:coreProperties>
</file>